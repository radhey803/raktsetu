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12192000"/>
  <p:extLst>
    <p:ext uri="{521415D9-36F7-43E2-AB2F-B90AF26B5E84}">
      <p14:sectionLst xmlns:p14="http://schemas.microsoft.com/office/powerpoint/2010/main">
        <p14:section name="Introduction" id="{40458754-2537-8f6d-b35f-7b1cc57967f8}">
          <p14:sldIdLst>
            <p14:sldId id="256"/>
            <p14:sldId id="257"/>
            <p14:sldId id="258"/>
          </p14:sldIdLst>
        </p14:section>
        <p14:section name="Product" id="{7a10be03-2e0c-9c47-de58-fa89c0fdadd4}">
          <p14:sldIdLst>
            <p14:sldId id="259"/>
            <p14:sldId id="260"/>
            <p14:sldId id="261"/>
          </p14:sldIdLst>
        </p14:section>
        <p14:section name="How it works" id="{bb17801d-3532-c546-a14d-8f620887fc0d}">
          <p14:sldIdLst>
            <p14:sldId id="262"/>
            <p14:sldId id="263"/>
            <p14:sldId id="264"/>
          </p14:sldIdLst>
        </p14:section>
        <p14:section name="Results" id="{8d594021-b240-e4cc-7776-3e7da1df2937}">
          <p14:sldIdLst>
            <p14:sldId id="265"/>
            <p14:sldId id="266"/>
            <p14:sldId id="267"/>
          </p14:sldIdLst>
        </p14:section>
        <p14:section name="Backup" id="{dd9a82dc-a934-2f6f-3681-0cdd6d38f354}">
          <p14:sldIdLst>
            <p14:sldId id="268"/>
            <p14:sldId id="269"/>
            <p14:sldId id="270"/>
            <p14:sldId id="271"/>
            <p14:sldId id="272"/>
            <p14:sldId id="273"/>
          </p14:sldIdLst>
        </p14:section>
      </p14:sectionLst>
    </p:ext>
  </p:ex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1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2"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3" name="PlaceHolder 4"/>
          <p:cNvSpPr>
            <a:spLocks noGrp="1"/>
          </p:cNvSpPr>
          <p:nvPr>
            <p:ph type="dt" idx="3"/>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4" name="PlaceHolder 5"/>
          <p:cNvSpPr>
            <a:spLocks noGrp="1"/>
          </p:cNvSpPr>
          <p:nvPr>
            <p:ph type="ftr" idx="4"/>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6"/>
          <p:cNvSpPr>
            <a:spLocks noGrp="1"/>
          </p:cNvSpPr>
          <p:nvPr>
            <p:ph type="sldNum" idx="5"/>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784816E-F229-43D5-BCCA-876184B19BCB}"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685800" y="1143000"/>
            <a:ext cx="5486040" cy="3085920"/>
          </a:xfrm>
          <a:prstGeom prst="rect">
            <a:avLst/>
          </a:prstGeom>
          <a:ln w="0">
            <a:noFill/>
          </a:ln>
        </p:spPr>
      </p:sp>
      <p:sp>
        <p:nvSpPr>
          <p:cNvPr id="2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[Radhey] Good morning, respected faculty. I am Radhey Gajera, and with me is Shruti Gajipara. Our project is Raktsetu, which means 'bridge of blood'. It is a real-time blood availability finder for all of India. It collects blood stock data from the government's eRaktKosh portal every few hours, checks its quality, and shows it on a fast website that works on any phone, even offline. Our guide is Ms. Konica Soni. In the next ten minutes we will show the problem, our solution, how it is built, how we tested it, and a short live demo.</a:t>
            </a:r>
            <a:endParaRPr lang="en-US" sz="2000" b="0" u="none" strike="noStrike">
              <a:solidFill>
                <a:srgbClr val="000000"/>
              </a:solidFill>
              <a:effectLst/>
              <a:uFillTx/>
              <a:latin typeface="Arial"/>
            </a:endParaRPr>
          </a:p>
        </p:txBody>
      </p:sp>
      <p:sp>
        <p:nvSpPr>
          <p:cNvPr id="273"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006AAC3-E9B4-430A-850E-859854B2ECF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685800" y="1143000"/>
            <a:ext cx="5486040" cy="3085920"/>
          </a:xfrm>
          <a:prstGeom prst="rect">
            <a:avLst/>
          </a:prstGeom>
          <a:ln w="0">
            <a:noFill/>
          </a:ln>
        </p:spPr>
      </p:sp>
      <p:sp>
        <p:nvSpPr>
          <p:cNvPr id="2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[Radhey] Imagine a patient needs O-negative blood at night. The family opens eRaktKosh, picks one district, checks it, then the next district, and keeps phoning banks. The data exists: our database has 4,716 blood banks in 701 districts across 35 states and union territories. But the portal makes you search district by district, it does not tell you which groups are compatible, and it does not warn you when a bank has not updated its stock for weeks. In an emergency, these minutes matter. That is the gap we wanted to close.</a:t>
            </a:r>
            <a:endParaRPr lang="en-US" sz="2000" b="0" u="none" strike="noStrike">
              <a:solidFill>
                <a:srgbClr val="000000"/>
              </a:solidFill>
              <a:effectLst/>
              <a:uFillTx/>
              <a:latin typeface="Arial"/>
            </a:endParaRPr>
          </a:p>
        </p:txBody>
      </p:sp>
      <p:sp>
        <p:nvSpPr>
          <p:cNvPr id="276"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8D4FED8-E8D9-40C3-B252-CE2E64A5A03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685800" y="1143000"/>
            <a:ext cx="5486040" cy="3085920"/>
          </a:xfrm>
          <a:prstGeom prst="rect">
            <a:avLst/>
          </a:prstGeom>
          <a:ln w="0">
            <a:noFill/>
          </a:ln>
        </p:spPr>
      </p:sp>
      <p:sp>
        <p:nvSpPr>
          <p:cNvPr id="2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[Radhey] Our solution does three things. First, it collects data automatically: a polite crawler visits every district on eRaktKosh every six hours. Second, it checks the quality: 37 automatic data tests and a safety gate make sure broken data never reaches users. Third, it lets anyone search instantly from any phone. On the right is the home page. It shows how many banks updated in the last 24 hours and how many are stale, so users know how much to trust the numbers.</a:t>
            </a:r>
            <a:endParaRPr lang="en-US" sz="2000" b="0" u="none" strike="noStrike">
              <a:solidFill>
                <a:srgbClr val="000000"/>
              </a:solidFill>
              <a:effectLst/>
              <a:uFillTx/>
              <a:latin typeface="Arial"/>
            </a:endParaRPr>
          </a:p>
        </p:txBody>
      </p:sp>
      <p:sp>
        <p:nvSpPr>
          <p:cNvPr id="279"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9F800B1-1ABA-4FEF-A8CE-A2C853F8E84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685800" y="1143000"/>
            <a:ext cx="5486040" cy="3085920"/>
          </a:xfrm>
          <a:prstGeom prst="rect">
            <a:avLst/>
          </a:prstGeom>
          <a:ln w="0">
            <a:noFill/>
          </a:ln>
        </p:spPr>
      </p:sp>
      <p:sp>
        <p:nvSpPr>
          <p:cNvPr id="2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[Radhey] Who uses Raktsetu? We identified five human roles. The patient's family searches nearby stock and calls the bank. Doctors and hospital staff use Emergency Mode to get compatible, ranked blood banks. Health officials look at district shortages and rare blood, and export CSV files. Blood donors check if they are eligible and see where stock is low. Finally, the operator runs the data pipeline. There are also three system actors: the eRaktKosh portal as our data source, the device GPS for 'near me', and OpenStreetMap for district locations.</a:t>
            </a:r>
            <a:endParaRPr lang="en-US" sz="2000" b="0" u="none" strike="noStrike">
              <a:solidFill>
                <a:srgbClr val="000000"/>
              </a:solidFill>
              <a:effectLst/>
              <a:uFillTx/>
              <a:latin typeface="Arial"/>
            </a:endParaRPr>
          </a:p>
        </p:txBody>
      </p:sp>
      <p:sp>
        <p:nvSpPr>
          <p:cNvPr id="282"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B4B52D2-B8A6-4EAA-BF88-A0B8DB90668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sldImg"/>
          </p:nvPr>
        </p:nvSpPr>
        <p:spPr>
          <a:xfrm>
            <a:off x="685800" y="1143000"/>
            <a:ext cx="5486040" cy="3085920"/>
          </a:xfrm>
          <a:prstGeom prst="rect">
            <a:avLst/>
          </a:prstGeom>
          <a:ln w="0">
            <a:noFill/>
          </a:ln>
        </p:spPr>
      </p:sp>
      <p:sp>
        <p:nvSpPr>
          <p:cNvPr id="2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[Shruti] Thank you, Radhey. I am Shruti, and I will cover the features. The Blood Finder filters by state, district, blood group and component. Emergency Mode is the heart of the project: it knows which groups are compatible and ranks banks by freshness, trust and distance. The map shows every bank, and 'Near me' widens the search from 50 to 150 to 400 kilometres until it finds stock. Every bank gets a trust score. Officials see district shortages and a rare blood radar. We also have Excel-safe CSV export, a donor eligibility checker, and offline support.</a:t>
            </a:r>
            <a:endParaRPr lang="en-US" sz="2000" b="0" u="none" strike="noStrike">
              <a:solidFill>
                <a:srgbClr val="000000"/>
              </a:solidFill>
              <a:effectLst/>
              <a:uFillTx/>
              <a:latin typeface="Arial"/>
            </a:endParaRPr>
          </a:p>
        </p:txBody>
      </p:sp>
      <p:sp>
        <p:nvSpPr>
          <p:cNvPr id="285"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B2F1555-3863-4DA6-B2D8-DF0AFD9BC2E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685800" y="1143000"/>
            <a:ext cx="5486040" cy="3085920"/>
          </a:xfrm>
          <a:prstGeom prst="rect">
            <a:avLst/>
          </a:prstGeom>
          <a:ln w="0">
            <a:noFill/>
          </a:ln>
        </p:spPr>
      </p:sp>
      <p:sp>
        <p:nvSpPr>
          <p:cNvPr id="2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[Shruti] Here are three real screens. On the left, Emergency Mode for an O-negative patient. Each card shows compatible units, how fresh the data is, the trust score, and one line explaining why it is ranked there, with a call button. In the middle is the map view; clicking a pin shows the bank and its phone number. On the right is the same emergency search on a phone. Switch to live demo here (2 min): search Gujarat, Anand; run Emergency Mode for O-; open the map; open a trend chart.</a:t>
            </a:r>
            <a:endParaRPr lang="en-US" sz="2000" b="0" u="none" strike="noStrike">
              <a:solidFill>
                <a:srgbClr val="000000"/>
              </a:solidFill>
              <a:effectLst/>
              <a:uFillTx/>
              <a:latin typeface="Arial"/>
            </a:endParaRPr>
          </a:p>
        </p:txBody>
      </p:sp>
      <p:sp>
        <p:nvSpPr>
          <p:cNvPr id="288"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5602D33-C996-4CE7-B66B-2721A278DBF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685800" y="1143000"/>
            <a:ext cx="5486040" cy="3085920"/>
          </a:xfrm>
          <a:prstGeom prst="rect">
            <a:avLst/>
          </a:prstGeom>
          <a:ln w="0">
            <a:noFill/>
          </a:ln>
        </p:spPr>
      </p:sp>
      <p:sp>
        <p:nvSpPr>
          <p:cNvPr id="2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[Shruti] This is the architecture. The scraper fetches every district and saves the raw answer as a Parquet file that is never changed. We load it into DuckDB as the bronze layer. dbt then cleans it into silver tables and builds gold tables, such as current stock, trust score and shortages. A quality gate checks the result. If the number of banks falls below 80 percent of the last run, we stop. Only good data is copied, in one atomic step, into the serving database. FastAPI reads that and the web app shows it. Layers mean we can always rebuild from raw data and never show half-broken data.</a:t>
            </a:r>
            <a:endParaRPr lang="en-US" sz="2000" b="0" u="none" strike="noStrike">
              <a:solidFill>
                <a:srgbClr val="000000"/>
              </a:solidFill>
              <a:effectLst/>
              <a:uFillTx/>
              <a:latin typeface="Arial"/>
            </a:endParaRPr>
          </a:p>
        </p:txBody>
      </p:sp>
      <p:sp>
        <p:nvSpPr>
          <p:cNvPr id="291"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100A1C2-4CEA-4D42-BB27-299BF563F31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685800" y="1143000"/>
            <a:ext cx="5486040" cy="3085920"/>
          </a:xfrm>
          <a:prstGeom prst="rect">
            <a:avLst/>
          </a:prstGeom>
          <a:ln w="0">
            <a:noFill/>
          </a:ln>
        </p:spPr>
      </p:sp>
      <p:sp>
        <p:nvSpPr>
          <p:cNvPr id="2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[Shruti] Everything we used is free and open source. For data: Python with aiohttp for fast asynchronous scraping, Parquet files, DuckDB and dbt. The backend is FastAPI with Pydantic validation. The frontend is plain HTML, CSS and JavaScript, with Leaflet maps and Chart.js, and it is a progressive web app. For quality we use pytest, Playwright, ruff and GitHub Actions, and Docker to deploy. We chose DuckDB because it is very fast for analytics and is just a file, with no server to manage. dbt gives us readable SQL with tests built in.</a:t>
            </a:r>
            <a:endParaRPr lang="en-US" sz="2000" b="0" u="none" strike="noStrike">
              <a:solidFill>
                <a:srgbClr val="000000"/>
              </a:solidFill>
              <a:effectLst/>
              <a:uFillTx/>
              <a:latin typeface="Arial"/>
            </a:endParaRPr>
          </a:p>
        </p:txBody>
      </p:sp>
      <p:sp>
        <p:nvSpPr>
          <p:cNvPr id="294"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DB41C32-6675-4918-886C-438420E1A46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sldImg"/>
          </p:nvPr>
        </p:nvSpPr>
        <p:spPr>
          <a:xfrm>
            <a:off x="685800" y="1143000"/>
            <a:ext cx="5486040" cy="3085920"/>
          </a:xfrm>
          <a:prstGeom prst="rect">
            <a:avLst/>
          </a:prstGeom>
          <a:ln w="0">
            <a:noFill/>
          </a:ln>
        </p:spPr>
      </p:sp>
      <p:sp>
        <p:nvSpPr>
          <p:cNvPr id="2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[Radhey] Data quality is the most important part of a medical tool. The scraper has a circuit breaker: if more than 20 percent of requests fail, it stops. dbt runs 37 data tests: no missing keys, no duplicate banks, and only valid blood groups. The anomaly gate blocks publishing if the bank count drops below 80 percent. And every bank gets a trust score out of 100. In this example, a bank updated two days ago gets 35 for freshness, 25 for a valid phone, and 25 for reporting four components: 85, which is High. If it stops updating for ten days, it drops to 58, Medium.</a:t>
            </a:r>
            <a:endParaRPr lang="en-US" sz="2000" b="0" u="none" strike="noStrike">
              <a:solidFill>
                <a:srgbClr val="000000"/>
              </a:solidFill>
              <a:effectLst/>
              <a:uFillTx/>
              <a:latin typeface="Arial"/>
            </a:endParaRPr>
          </a:p>
        </p:txBody>
      </p:sp>
      <p:sp>
        <p:nvSpPr>
          <p:cNvPr id="297"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BC77A96-53DA-48CD-8343-01EF0286E55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sldImg"/>
          </p:nvPr>
        </p:nvSpPr>
        <p:spPr>
          <a:xfrm>
            <a:off x="685800" y="1143000"/>
            <a:ext cx="5486040" cy="3085920"/>
          </a:xfrm>
          <a:prstGeom prst="rect">
            <a:avLst/>
          </a:prstGeom>
          <a:ln w="0">
            <a:noFill/>
          </a:ln>
        </p:spPr>
      </p:sp>
      <p:sp>
        <p:nvSpPr>
          <p:cNvPr id="2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[Radhey] We tested every layer. 98 pytest tests cover the scraper, scoring, compatibility rules, CSV export and every API endpoint. 37 dbt tests check the data itself. Our Playwright script clicks through the real website like a user: 146 checks on desktop and mobile, failing on any console error. We also checked the layout at seven screen widths, from 360 to 1920 pixels. We documented 28 test cases in the report, verified CSV files in Excel, Google Sheets and pandas, and confirmed the app loads offline.</a:t>
            </a:r>
            <a:endParaRPr lang="en-US" sz="2000" b="0" u="none" strike="noStrike">
              <a:solidFill>
                <a:srgbClr val="000000"/>
              </a:solidFill>
              <a:effectLst/>
              <a:uFillTx/>
              <a:latin typeface="Arial"/>
            </a:endParaRPr>
          </a:p>
        </p:txBody>
      </p:sp>
      <p:sp>
        <p:nvSpPr>
          <p:cNvPr id="300"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212EE87-A24F-4CF0-9180-3160B65DDFC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sldImg"/>
          </p:nvPr>
        </p:nvSpPr>
        <p:spPr>
          <a:xfrm>
            <a:off x="685800" y="1143000"/>
            <a:ext cx="5486040" cy="3085920"/>
          </a:xfrm>
          <a:prstGeom prst="rect">
            <a:avLst/>
          </a:prstGeom>
          <a:ln w="0">
            <a:noFill/>
          </a:ln>
        </p:spPr>
      </p:sp>
      <p:sp>
        <p:nvSpPr>
          <p:cNvPr id="3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[Shruti] We want to be honest about the limits. The data is a snapshot every six hours, not live, so users should always call before travelling. Accuracy depends on banks updating eRaktKosh. The map shows district centres, not exact hospital addresses. 'Near me' needs HTTPS, and the interface is English only. For the future: SMS or WhatsApp alerts when a rare group becomes available, donor registration, a hospital login so banks can update stock directly, demand forecasting once we have enough history, and regional languages.</a:t>
            </a:r>
            <a:endParaRPr lang="en-US" sz="2000" b="0" u="none" strike="noStrike">
              <a:solidFill>
                <a:srgbClr val="000000"/>
              </a:solidFill>
              <a:effectLst/>
              <a:uFillTx/>
              <a:latin typeface="Arial"/>
            </a:endParaRPr>
          </a:p>
        </p:txBody>
      </p:sp>
      <p:sp>
        <p:nvSpPr>
          <p:cNvPr id="303"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F1FE399-1A61-43C9-983F-7F0F892F0EE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685800" y="1143000"/>
            <a:ext cx="5486040" cy="3085920"/>
          </a:xfrm>
          <a:prstGeom prst="rect">
            <a:avLst/>
          </a:prstGeom>
          <a:ln w="0">
            <a:noFill/>
          </a:ln>
        </p:spPr>
      </p:sp>
      <p:sp>
        <p:nvSpPr>
          <p:cNvPr id="3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[Shruti] To conclude: Raktsetu turns scattered public data into a search that can save lives. 4,716 blood banks are now searchable in seconds, with compatible groups and a trust score. For us, it was real data engineering: a lakehouse, dbt, automated testing and a progressive web app. And it is a working product: tested, documented and ready to deploy. Thank you. We are happy to take your questions.</a:t>
            </a:r>
            <a:endParaRPr lang="en-US" sz="2000" b="0" u="none" strike="noStrike">
              <a:solidFill>
                <a:srgbClr val="000000"/>
              </a:solidFill>
              <a:effectLst/>
              <a:uFillTx/>
              <a:latin typeface="Arial"/>
            </a:endParaRPr>
          </a:p>
        </p:txBody>
      </p:sp>
      <p:sp>
        <p:nvSpPr>
          <p:cNvPr id="306"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5CABE7C-F8BB-4824-BB81-9C53959D2E3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sldImg"/>
          </p:nvPr>
        </p:nvSpPr>
        <p:spPr>
          <a:xfrm>
            <a:off x="685800" y="1143000"/>
            <a:ext cx="5486040" cy="3085920"/>
          </a:xfrm>
          <a:prstGeom prst="rect">
            <a:avLst/>
          </a:prstGeom>
          <a:ln w="0">
            <a:noFill/>
          </a:ln>
        </p:spPr>
      </p:sp>
      <p:sp>
        <p:nvSpPr>
          <p:cNvPr id="3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hospital_code links every gold table to dim_blood_banks.</a:t>
            </a:r>
            <a:endParaRPr lang="en-US" sz="2000" b="0" u="none" strike="noStrike">
              <a:solidFill>
                <a:srgbClr val="000000"/>
              </a:solidFill>
              <a:effectLst/>
              <a:uFillTx/>
              <a:latin typeface="Arial"/>
            </a:endParaRPr>
          </a:p>
        </p:txBody>
      </p:sp>
      <p:sp>
        <p:nvSpPr>
          <p:cNvPr id="309"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ADDE9BE-DE6B-4067-A23E-D88341E350D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sldImg"/>
          </p:nvPr>
        </p:nvSpPr>
        <p:spPr>
          <a:xfrm>
            <a:off x="685800" y="1143000"/>
            <a:ext cx="5486040" cy="3085920"/>
          </a:xfrm>
          <a:prstGeom prst="rect">
            <a:avLst/>
          </a:prstGeom>
          <a:ln w="0">
            <a:noFill/>
          </a:ln>
        </p:spPr>
      </p:sp>
      <p:sp>
        <p:nvSpPr>
          <p:cNvPr id="3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Six processes and four data stores.</a:t>
            </a:r>
            <a:endParaRPr lang="en-US" sz="2000" b="0" u="none" strike="noStrike">
              <a:solidFill>
                <a:srgbClr val="000000"/>
              </a:solidFill>
              <a:effectLst/>
              <a:uFillTx/>
              <a:latin typeface="Arial"/>
            </a:endParaRPr>
          </a:p>
        </p:txBody>
      </p:sp>
      <p:sp>
        <p:nvSpPr>
          <p:cNvPr id="312"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490897A-8435-4AB0-B6B5-49EC369EA0E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sldImg"/>
          </p:nvPr>
        </p:nvSpPr>
        <p:spPr>
          <a:xfrm>
            <a:off x="685800" y="1143000"/>
            <a:ext cx="5486040" cy="3085920"/>
          </a:xfrm>
          <a:prstGeom prst="rect">
            <a:avLst/>
          </a:prstGeom>
          <a:ln w="0">
            <a:noFill/>
          </a:ln>
        </p:spPr>
      </p:sp>
      <p:sp>
        <p:nvSpPr>
          <p:cNvPr id="3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Browser → FastAPI → medical rules → DuckDB → ranked JSON.</a:t>
            </a:r>
            <a:endParaRPr lang="en-US" sz="2000" b="0" u="none" strike="noStrike">
              <a:solidFill>
                <a:srgbClr val="000000"/>
              </a:solidFill>
              <a:effectLst/>
              <a:uFillTx/>
              <a:latin typeface="Arial"/>
            </a:endParaRPr>
          </a:p>
        </p:txBody>
      </p:sp>
      <p:sp>
        <p:nvSpPr>
          <p:cNvPr id="315"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225FDF0-AA73-4977-BDFF-9A9B9D36F90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Img"/>
          </p:nvPr>
        </p:nvSpPr>
        <p:spPr>
          <a:xfrm>
            <a:off x="685800" y="1143000"/>
            <a:ext cx="5486040" cy="3085920"/>
          </a:xfrm>
          <a:prstGeom prst="rect">
            <a:avLst/>
          </a:prstGeom>
          <a:ln w="0">
            <a:noFill/>
          </a:ln>
        </p:spPr>
      </p:sp>
      <p:sp>
        <p:nvSpPr>
          <p:cNvPr id="3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Full architecture diagram from the report.</a:t>
            </a:r>
            <a:endParaRPr lang="en-US" sz="2000" b="0" u="none" strike="noStrike">
              <a:solidFill>
                <a:srgbClr val="000000"/>
              </a:solidFill>
              <a:effectLst/>
              <a:uFillTx/>
              <a:latin typeface="Arial"/>
            </a:endParaRPr>
          </a:p>
        </p:txBody>
      </p:sp>
      <p:sp>
        <p:nvSpPr>
          <p:cNvPr id="318"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A1167DC-C1FA-445E-A9C1-1CA07B7E90E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sldImg"/>
          </p:nvPr>
        </p:nvSpPr>
        <p:spPr>
          <a:xfrm>
            <a:off x="685800" y="1143000"/>
            <a:ext cx="5486040" cy="3085920"/>
          </a:xfrm>
          <a:prstGeom prst="rect">
            <a:avLst/>
          </a:prstGeom>
          <a:ln w="0">
            <a:noFill/>
          </a:ln>
        </p:spPr>
      </p:sp>
      <p:sp>
        <p:nvSpPr>
          <p:cNvPr id="3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Full list with parameters at /docs (Swagger UI).</a:t>
            </a:r>
            <a:endParaRPr lang="en-US" sz="2000" b="0" u="none" strike="noStrike">
              <a:solidFill>
                <a:srgbClr val="000000"/>
              </a:solidFill>
              <a:effectLst/>
              <a:uFillTx/>
              <a:latin typeface="Arial"/>
            </a:endParaRPr>
          </a:p>
        </p:txBody>
      </p:sp>
      <p:sp>
        <p:nvSpPr>
          <p:cNvPr id="321"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1045B6-46C9-48AD-B479-3B31DFB9075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sldImg"/>
          </p:nvPr>
        </p:nvSpPr>
        <p:spPr>
          <a:xfrm>
            <a:off x="685800" y="1143000"/>
            <a:ext cx="5486040" cy="3085920"/>
          </a:xfrm>
          <a:prstGeom prst="rect">
            <a:avLst/>
          </a:prstGeom>
          <a:ln w="0">
            <a:noFill/>
          </a:ln>
        </p:spPr>
      </p:sp>
      <p:sp>
        <p:nvSpPr>
          <p:cNvPr id="3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Backup. More answers in docs/guide/16_GLOSSARY_AND_FAQ.md.</a:t>
            </a:r>
            <a:endParaRPr lang="en-US" sz="2000" b="0" u="none" strike="noStrike">
              <a:solidFill>
                <a:srgbClr val="000000"/>
              </a:solidFill>
              <a:effectLst/>
              <a:uFillTx/>
              <a:latin typeface="Arial"/>
            </a:endParaRPr>
          </a:p>
        </p:txBody>
      </p:sp>
      <p:sp>
        <p:nvSpPr>
          <p:cNvPr id="324"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C7C2D96-F9F5-4CEB-B608-E06A1386A63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p:bg>
      <p:bgPr>
        <a:solidFill>
          <a:schemeClr val="lt2"/>
        </a:solidFill>
      </p:bgPr>
    </p:bg>
    <p:spTree>
      <p:nvGrpSpPr>
        <p:cNvPr id="1" name=""/>
        <p:cNvGrpSpPr/>
        <p:nvPr/>
      </p:nvGrpSpPr>
      <p:grpSpPr>
        <a:xfrm>
          <a:off x="0" y="0"/>
          <a:ext cx="0" cy="0"/>
          <a:chOff x="0" y="0"/>
          <a:chExt cx="0" cy="0"/>
        </a:xfrm>
      </p:grpSpPr>
      <p:sp>
        <p:nvSpPr>
          <p:cNvPr id="2" name="Text 0"/>
          <p:cNvSpPr/>
          <p:nvPr/>
        </p:nvSpPr>
        <p:spPr>
          <a:xfrm>
            <a:off x="548640" y="6355080"/>
            <a:ext cx="54860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chemeClr val="accent3"/>
                </a:solidFill>
                <a:effectLst/>
                <a:uFillTx/>
                <a:latin typeface="Calibri"/>
              </a:rPr>
              <a:t>Raktsetu | CMPICA, CHARUSAT</a:t>
            </a:r>
            <a:endParaRPr lang="en-US" sz="1200" b="0" u="none" strike="noStrike">
              <a:solidFill>
                <a:srgbClr val="000000"/>
              </a:solidFill>
              <a:effectLst/>
              <a:uFillTx/>
              <a:latin typeface="Arial"/>
            </a:endParaRPr>
          </a:p>
        </p:txBody>
      </p:sp>
      <p:sp>
        <p:nvSpPr>
          <p:cNvPr id="3" name="PlaceHolder 1"/>
          <p:cNvSpPr>
            <a:spLocks noGrp="1"/>
          </p:cNvSpPr>
          <p:nvPr>
            <p:ph type="title"/>
          </p:nvPr>
        </p:nvSpPr>
        <p:spPr>
          <a:xfrm>
            <a:off x="548640" y="320040"/>
            <a:ext cx="11091240" cy="868320"/>
          </a:xfrm>
          <a:prstGeom prst="rect">
            <a:avLst/>
          </a:prstGeom>
          <a:noFill/>
          <a:ln w="0">
            <a:noFill/>
          </a:ln>
        </p:spPr>
        <p:txBody>
          <a:bodyPr lIns="90000" tIns="45000" rIns="90000" bIns="45000" anchor="t">
            <a:noAutofit/>
          </a:bodyPr>
          <a:lstStyle>
            <a:lvl1pPr indent="0" algn="l">
              <a:buNone/>
              <a:defRPr lang="en-US" sz="3000" b="0" u="none" strike="noStrike">
                <a:solidFill>
                  <a:schemeClr val="dk1"/>
                </a:solidFill>
                <a:effectLst/>
                <a:uFillTx/>
                <a:latin typeface="Calibri"/>
              </a:defRPr>
            </a:lvl1pPr>
          </a:lstStyle>
          <a:p>
            <a:pPr indent="0" algn="l">
              <a:buNone/>
            </a:pPr>
            <a:r>
              <a:rPr lang="en-US" sz="3000" b="0" u="none" strike="noStrike">
                <a:solidFill>
                  <a:schemeClr val="dk1"/>
                </a:solidFill>
                <a:effectLst/>
                <a:uFillTx/>
                <a:latin typeface="Calibri"/>
              </a:rPr>
              <a:t>Click to edit the </a:t>
            </a:r>
            <a:r>
              <a:rPr lang="en-US" sz="3000" b="0" u="none" strike="noStrike">
                <a:solidFill>
                  <a:schemeClr val="dk1"/>
                </a:solidFill>
                <a:effectLst/>
                <a:uFillTx/>
                <a:latin typeface="Calibri"/>
              </a:rPr>
              <a:t>title text format</a:t>
            </a:r>
            <a:endParaRPr lang="en-US" sz="3000" b="0" u="none" strike="noStrike">
              <a:solidFill>
                <a:schemeClr val="dk1"/>
              </a:solidFill>
              <a:effectLst/>
              <a:uFillTx/>
              <a:latin typeface="Calibri"/>
            </a:endParaRPr>
          </a:p>
        </p:txBody>
      </p:sp>
      <p:sp>
        <p:nvSpPr>
          <p:cNvPr id="4" name="PlaceHolder 2"/>
          <p:cNvSpPr>
            <a:spLocks noGrp="1"/>
          </p:cNvSpPr>
          <p:nvPr>
            <p:ph type="sldNum" idx="1"/>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292416BE-A5DB-4C93-AE98-E06226699896}"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
        <p:nvSpPr>
          <p:cNvPr id="5"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ARK">
    <p:bg>
      <p:bgPr>
        <a:solidFill>
          <a:schemeClr val="dk2"/>
        </a:solidFill>
      </p:bgPr>
    </p:bg>
    <p:spTree>
      <p:nvGrpSpPr>
        <p:cNvPr id="1" name=""/>
        <p:cNvGrpSpPr/>
        <p:nvPr/>
      </p:nvGrpSpPr>
      <p:grpSpPr>
        <a:xfrm>
          <a:off x="0" y="0"/>
          <a:ext cx="0" cy="0"/>
          <a:chOff x="0" y="0"/>
          <a:chExt cx="0" cy="0"/>
        </a:xfrm>
      </p:grpSpPr>
      <p:sp>
        <p:nvSpPr>
          <p:cNvPr id="6" name="Text 0"/>
          <p:cNvSpPr/>
          <p:nvPr/>
        </p:nvSpPr>
        <p:spPr>
          <a:xfrm>
            <a:off x="548640" y="6355080"/>
            <a:ext cx="54860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chemeClr val="lt2"/>
                </a:solidFill>
                <a:effectLst/>
                <a:uFillTx/>
                <a:latin typeface="Calibri"/>
              </a:rPr>
              <a:t>Raktsetu | CMPICA, CHARUSAT</a:t>
            </a:r>
            <a:endParaRPr lang="en-US" sz="1200" b="0" u="none" strike="noStrike">
              <a:solidFill>
                <a:srgbClr val="FFFFFF"/>
              </a:solidFill>
              <a:effectLst/>
              <a:uFillTx/>
              <a:latin typeface="Arial"/>
            </a:endParaRPr>
          </a:p>
        </p:txBody>
      </p:sp>
      <p:sp>
        <p:nvSpPr>
          <p:cNvPr id="7" name="PlaceHolder 1"/>
          <p:cNvSpPr>
            <a:spLocks noGrp="1"/>
          </p:cNvSpPr>
          <p:nvPr>
            <p:ph type="sldNum" idx="2"/>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lt2"/>
                </a:solidFill>
                <a:effectLst/>
                <a:uFillTx/>
                <a:latin typeface="Calibri"/>
              </a:defRPr>
            </a:lvl1pPr>
          </a:lstStyle>
          <a:p>
            <a:pPr indent="0" algn="r" defTabSz="914400">
              <a:lnSpc>
                <a:spcPct val="100000"/>
              </a:lnSpc>
              <a:buNone/>
            </a:pPr>
            <a:fld id="{129EFDC3-DFA3-4858-A370-A03C201B7311}" type="slidenum">
              <a:rPr lang="en-US" sz="1200" b="0" u="none" strike="noStrike">
                <a:solidFill>
                  <a:schemeClr val="lt2"/>
                </a:solidFill>
                <a:effectLst/>
                <a:uFillTx/>
                <a:latin typeface="Calibri"/>
              </a:rPr>
              <a:t>&lt;number&gt;</a:t>
            </a:fld>
            <a:endParaRPr lang="en-US" sz="1200" b="0" u="none" strike="noStrike">
              <a:solidFill>
                <a:srgbClr val="FFFFFF"/>
              </a:solidFill>
              <a:effectLst/>
              <a:uFillTx/>
              <a:latin typeface="Times New Roman"/>
            </a:endParaRPr>
          </a:p>
        </p:txBody>
      </p:sp>
      <p:sp>
        <p:nvSpPr>
          <p:cNvPr id="8"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a:t>
            </a:r>
            <a:r>
              <a:rPr lang="en-US" sz="1800" b="0" u="none" strike="noStrike">
                <a:solidFill>
                  <a:schemeClr val="dk1"/>
                </a:solidFill>
                <a:effectLst/>
                <a:uFillTx/>
                <a:latin typeface="Calibri"/>
              </a:rPr>
              <a:t>format</a:t>
            </a:r>
            <a:endParaRPr lang="en-US" sz="1800" b="0" u="none" strike="noStrike">
              <a:solidFill>
                <a:schemeClr val="dk1"/>
              </a:solidFill>
              <a:effectLst/>
              <a:uFillTx/>
              <a:latin typeface="Calibri"/>
            </a:endParaRPr>
          </a:p>
        </p:txBody>
      </p:sp>
      <p:sp>
        <p:nvSpPr>
          <p:cNvPr id="9"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FFFFFF"/>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FFFFFF"/>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FFFFFF"/>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FFFFFF"/>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image" Target="../media/image3.jpeg"/><Relationship Id="rId4" Type="http://schemas.openxmlformats.org/officeDocument/2006/relationships/slideLayout" Target="../slideLayouts/slideLayout3.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2.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jpeg"/><Relationship Id="rId5" Type="http://schemas.openxmlformats.org/officeDocument/2006/relationships/slideLayout" Target="../slideLayouts/slideLayout2.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slideLayout" Target="../slideLayouts/slideLayout2.xml"/><Relationship Id="rId8"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3.jpeg"/><Relationship Id="rId2" Type="http://schemas.openxmlformats.org/officeDocument/2006/relationships/image" Target="../media/image24.jpeg"/><Relationship Id="rId3" Type="http://schemas.openxmlformats.org/officeDocument/2006/relationships/image" Target="../media/image25.jpeg"/><Relationship Id="rId4" Type="http://schemas.openxmlformats.org/officeDocument/2006/relationships/slideLayout" Target="../slideLayouts/slideLayout2.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6.png"/><Relationship Id="rId3" Type="http://schemas.openxmlformats.org/officeDocument/2006/relationships/image" Target="../media/image26.png"/><Relationship Id="rId4" Type="http://schemas.openxmlformats.org/officeDocument/2006/relationships/image" Target="../media/image26.png"/><Relationship Id="rId5" Type="http://schemas.openxmlformats.org/officeDocument/2006/relationships/slideLayout" Target="../slideLayouts/slideLayout2.xml"/><Relationship Id="rId6"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6.png"/><Relationship Id="rId3" Type="http://schemas.openxmlformats.org/officeDocument/2006/relationships/image" Target="../media/image26.png"/><Relationship Id="rId4" Type="http://schemas.openxmlformats.org/officeDocument/2006/relationships/image" Target="../media/image26.png"/><Relationship Id="rId5" Type="http://schemas.openxmlformats.org/officeDocument/2006/relationships/slideLayout" Target="../slideLayouts/slideLayout2.xml"/><Relationship Id="rId6"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slideLayout" Target="../slideLayouts/slideLayout2.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2.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2.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2.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drop icon circle"/>
          <p:cNvSpPr/>
          <p:nvPr/>
        </p:nvSpPr>
        <p:spPr>
          <a:xfrm>
            <a:off x="731520" y="822960"/>
            <a:ext cx="822600" cy="82260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7" name="drop icon" descr="preencoded.png"/>
          <p:cNvPicPr/>
          <p:nvPr/>
        </p:nvPicPr>
        <p:blipFill>
          <a:blip r:embed="rId1"/>
          <a:stretch/>
        </p:blipFill>
        <p:spPr>
          <a:xfrm>
            <a:off x="929160" y="1020600"/>
            <a:ext cx="427680" cy="427680"/>
          </a:xfrm>
          <a:prstGeom prst="rect">
            <a:avLst/>
          </a:prstGeom>
          <a:noFill/>
          <a:ln w="0">
            <a:noFill/>
          </a:ln>
        </p:spPr>
      </p:pic>
      <p:sp>
        <p:nvSpPr>
          <p:cNvPr id="18" name="Text 1"/>
          <p:cNvSpPr/>
          <p:nvPr/>
        </p:nvSpPr>
        <p:spPr>
          <a:xfrm>
            <a:off x="731520" y="1828800"/>
            <a:ext cx="685764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5400" b="1" u="none" strike="noStrike">
                <a:solidFill>
                  <a:schemeClr val="lt1"/>
                </a:solidFill>
                <a:effectLst/>
                <a:uFillTx/>
                <a:latin typeface="Segoe UI Semibold"/>
                <a:ea typeface="Segoe UI Semibold"/>
              </a:rPr>
              <a:t>Rak</a:t>
            </a:r>
            <a:r>
              <a:rPr lang="en-US" sz="5400" b="1" u="none" strike="noStrike">
                <a:solidFill>
                  <a:schemeClr val="lt1"/>
                </a:solidFill>
                <a:effectLst/>
                <a:uFillTx/>
                <a:latin typeface="Segoe UI Semibold"/>
                <a:ea typeface="Segoe UI Semibold"/>
              </a:rPr>
              <a:t>tset</a:t>
            </a:r>
            <a:r>
              <a:rPr lang="en-US" sz="5400" b="1" u="none" strike="noStrike">
                <a:solidFill>
                  <a:schemeClr val="lt1"/>
                </a:solidFill>
                <a:effectLst/>
                <a:uFillTx/>
                <a:latin typeface="Segoe UI Semibold"/>
                <a:ea typeface="Segoe UI Semibold"/>
              </a:rPr>
              <a:t>u</a:t>
            </a:r>
            <a:endParaRPr lang="en-US" sz="5400" b="0" u="none" strike="noStrike">
              <a:solidFill>
                <a:srgbClr val="FFFFFF"/>
              </a:solidFill>
              <a:effectLst/>
              <a:uFillTx/>
              <a:latin typeface="Arial"/>
            </a:endParaRPr>
          </a:p>
        </p:txBody>
      </p:sp>
      <p:sp>
        <p:nvSpPr>
          <p:cNvPr id="19" name="Text 2"/>
          <p:cNvSpPr/>
          <p:nvPr/>
        </p:nvSpPr>
        <p:spPr>
          <a:xfrm>
            <a:off x="731520" y="2834640"/>
            <a:ext cx="68576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600" b="0" u="none" strike="noStrike">
                <a:solidFill>
                  <a:schemeClr val="lt1"/>
                </a:solidFill>
                <a:effectLst/>
                <a:uFillTx/>
                <a:latin typeface="Calibri"/>
              </a:rPr>
              <a:t>Real-Time Blood Availability Finder</a:t>
            </a:r>
            <a:endParaRPr lang="en-US" sz="2600" b="0" u="none" strike="noStrike">
              <a:solidFill>
                <a:srgbClr val="FFFFFF"/>
              </a:solidFill>
              <a:effectLst/>
              <a:uFillTx/>
              <a:latin typeface="Arial"/>
            </a:endParaRPr>
          </a:p>
        </p:txBody>
      </p:sp>
      <p:sp>
        <p:nvSpPr>
          <p:cNvPr id="20" name="Text 3"/>
          <p:cNvSpPr/>
          <p:nvPr/>
        </p:nvSpPr>
        <p:spPr>
          <a:xfrm>
            <a:off x="731520" y="3383280"/>
            <a:ext cx="68576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0" i="1" u="none" strike="noStrike">
                <a:solidFill>
                  <a:schemeClr val="accent2"/>
                </a:solidFill>
                <a:effectLst/>
                <a:uFillTx/>
                <a:latin typeface="Calibri"/>
              </a:rPr>
              <a:t>A Medallion Lakehouse + Progressive Web </a:t>
            </a:r>
            <a:r>
              <a:rPr lang="en-US" sz="2000" b="0" i="1" u="none" strike="noStrike">
                <a:solidFill>
                  <a:schemeClr val="accent2"/>
                </a:solidFill>
                <a:effectLst/>
                <a:uFillTx/>
                <a:latin typeface="Calibri"/>
              </a:rPr>
              <a:t>App</a:t>
            </a:r>
            <a:endParaRPr lang="en-US" sz="2000" b="0" u="none" strike="noStrike">
              <a:solidFill>
                <a:srgbClr val="FFFFFF"/>
              </a:solidFill>
              <a:effectLst/>
              <a:uFillTx/>
              <a:latin typeface="Arial"/>
            </a:endParaRPr>
          </a:p>
        </p:txBody>
      </p:sp>
      <p:sp>
        <p:nvSpPr>
          <p:cNvPr id="21" name="Text 4"/>
          <p:cNvSpPr/>
          <p:nvPr/>
        </p:nvSpPr>
        <p:spPr>
          <a:xfrm>
            <a:off x="731520" y="4389120"/>
            <a:ext cx="713196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601"/>
              </a:spcAft>
              <a:tabLst>
                <a:tab pos="0" algn="l"/>
              </a:tabLst>
            </a:pPr>
            <a:r>
              <a:rPr lang="en-US" sz="1800" b="0" u="none" strike="noStrike">
                <a:solidFill>
                  <a:schemeClr val="lt1"/>
                </a:solidFill>
                <a:effectLst/>
                <a:uFillTx/>
                <a:latin typeface="Calibri"/>
              </a:rPr>
              <a:t>.  Radhey Gajera (25MCA057)  </a:t>
            </a:r>
            <a:endParaRPr lang="en-US" sz="1800" b="0" u="none" strike="noStrike">
              <a:solidFill>
                <a:srgbClr val="FFFFFF"/>
              </a:solidFill>
              <a:effectLst/>
              <a:uFillTx/>
              <a:latin typeface="Arial"/>
            </a:endParaRPr>
          </a:p>
          <a:p>
            <a:pPr defTabSz="914400">
              <a:lnSpc>
                <a:spcPct val="100000"/>
              </a:lnSpc>
              <a:spcAft>
                <a:spcPts val="601"/>
              </a:spcAft>
              <a:tabLst>
                <a:tab pos="0" algn="l"/>
              </a:tabLst>
            </a:pPr>
            <a:r>
              <a:rPr lang="en-US" sz="1800" b="0" u="none" strike="noStrike">
                <a:solidFill>
                  <a:schemeClr val="lt1"/>
                </a:solidFill>
                <a:effectLst/>
                <a:uFillTx/>
                <a:latin typeface="Calibri"/>
              </a:rPr>
              <a:t>·  Shruti Gajipara (25MCA058)</a:t>
            </a:r>
            <a:endParaRPr lang="en-US" sz="1800" b="0" u="none" strike="noStrike">
              <a:solidFill>
                <a:srgbClr val="FFFFFF"/>
              </a:solidFill>
              <a:effectLst/>
              <a:uFillTx/>
              <a:latin typeface="Arial"/>
            </a:endParaRPr>
          </a:p>
          <a:p>
            <a:pPr defTabSz="914400">
              <a:lnSpc>
                <a:spcPct val="100000"/>
              </a:lnSpc>
              <a:spcAft>
                <a:spcPts val="601"/>
              </a:spcAft>
              <a:tabLst>
                <a:tab pos="0" algn="l"/>
              </a:tabLst>
            </a:pPr>
            <a:r>
              <a:rPr lang="en-US" sz="1800" b="0" u="none" strike="noStrike">
                <a:solidFill>
                  <a:schemeClr val="lt1"/>
                </a:solidFill>
                <a:effectLst/>
                <a:uFillTx/>
                <a:latin typeface="Calibri"/>
              </a:rPr>
              <a:t>Guide: Ms. Konica Soni </a:t>
            </a:r>
            <a:endParaRPr lang="en-US" sz="1800" b="0" u="none" strike="noStrike">
              <a:solidFill>
                <a:srgbClr val="FFFFFF"/>
              </a:solidFill>
              <a:effectLst/>
              <a:uFillTx/>
              <a:latin typeface="Arial"/>
            </a:endParaRPr>
          </a:p>
        </p:txBody>
      </p:sp>
      <p:sp>
        <p:nvSpPr>
          <p:cNvPr id="22" name="logo card"/>
          <p:cNvSpPr/>
          <p:nvPr/>
        </p:nvSpPr>
        <p:spPr>
          <a:xfrm>
            <a:off x="8229600" y="1828800"/>
            <a:ext cx="3291480" cy="3108600"/>
          </a:xfrm>
          <a:prstGeom prst="roundRect">
            <a:avLst>
              <a:gd name="adj" fmla="val 4412"/>
            </a:avLst>
          </a:prstGeom>
          <a:solidFill>
            <a:schemeClr val="bg1"/>
          </a:solidFill>
          <a:ln w="12700">
            <a:solidFill>
              <a:srgbClr val="FFFFFF"/>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3" name="CMPICA logo" descr="/home/radhey/Documents/project_idea/scripts/report/assets/cmpica_logo.jpeg"/>
          <p:cNvPicPr/>
          <p:nvPr/>
        </p:nvPicPr>
        <p:blipFill>
          <a:blip r:embed="rId2"/>
          <a:stretch/>
        </p:blipFill>
        <p:spPr>
          <a:xfrm>
            <a:off x="9253800" y="2057400"/>
            <a:ext cx="1243080" cy="1362240"/>
          </a:xfrm>
          <a:prstGeom prst="rect">
            <a:avLst/>
          </a:prstGeom>
          <a:noFill/>
          <a:ln w="0">
            <a:noFill/>
          </a:ln>
        </p:spPr>
      </p:pic>
      <p:pic>
        <p:nvPicPr>
          <p:cNvPr id="24" name="CHARUSAT logo" descr="/home/radhey/Documents/project_idea/scripts/report/assets/charusat_logo.jpeg"/>
          <p:cNvPicPr/>
          <p:nvPr/>
        </p:nvPicPr>
        <p:blipFill>
          <a:blip r:embed="rId3"/>
          <a:stretch/>
        </p:blipFill>
        <p:spPr>
          <a:xfrm>
            <a:off x="8458200" y="3794760"/>
            <a:ext cx="2834280" cy="557280"/>
          </a:xfrm>
          <a:prstGeom prst="rect">
            <a:avLst/>
          </a:prstGeom>
          <a:noFill/>
          <a:ln w="0">
            <a:noFill/>
          </a:ln>
        </p:spPr>
      </p:pic>
      <p:sp>
        <p:nvSpPr>
          <p:cNvPr id="25" name="Text 6"/>
          <p:cNvSpPr/>
          <p:nvPr/>
        </p:nvSpPr>
        <p:spPr>
          <a:xfrm>
            <a:off x="8229600" y="5120640"/>
            <a:ext cx="329148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400" b="0" u="none" strike="noStrike">
                <a:solidFill>
                  <a:schemeClr val="accent2"/>
                </a:solidFill>
                <a:effectLst/>
                <a:uFillTx/>
                <a:latin typeface="Calibri"/>
              </a:rPr>
              <a:t>MCA Project · CMPICA, CHARUSAT</a:t>
            </a:r>
            <a:endParaRPr lang="en-US" sz="1400" b="0" u="none" strike="noStrike">
              <a:solidFill>
                <a:srgbClr val="FFFFFF"/>
              </a:solidFill>
              <a:effectLst/>
              <a:uFillTx/>
              <a:latin typeface="Arial"/>
            </a:endParaRPr>
          </a:p>
        </p:txBody>
      </p:sp>
      <p:sp>
        <p:nvSpPr>
          <p:cNvPr id="26" name="PlaceHolder 1"/>
          <p:cNvSpPr>
            <a:spLocks noGrp="1"/>
          </p:cNvSpPr>
          <p:nvPr>
            <p:ph type="sldNum" idx="6"/>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lt2"/>
                </a:solidFill>
                <a:effectLst/>
                <a:uFillTx/>
                <a:latin typeface="Calibri"/>
              </a:defRPr>
            </a:lvl1pPr>
          </a:lstStyle>
          <a:p>
            <a:pPr indent="0" algn="r" defTabSz="914400">
              <a:lnSpc>
                <a:spcPct val="100000"/>
              </a:lnSpc>
              <a:buNone/>
            </a:pPr>
            <a:fld id="{9271F62B-B661-43C4-ABB7-6566D20B09A4}" type="slidenum">
              <a:rPr lang="en-US" sz="1200" b="0" u="none" strike="noStrike">
                <a:solidFill>
                  <a:schemeClr val="lt2"/>
                </a:solidFill>
                <a:effectLst/>
                <a:uFillTx/>
                <a:latin typeface="Calibri"/>
              </a:rPr>
              <a:t>&lt;number&gt;</a:t>
            </a:fld>
            <a:endParaRPr lang="en-US" sz="12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PlaceHolder 1"/>
          <p:cNvSpPr>
            <a:spLocks noGrp="1"/>
          </p:cNvSpPr>
          <p:nvPr>
            <p:ph type="title" hasCustomPrompt="1"/>
          </p:nvPr>
        </p:nvSpPr>
        <p:spPr>
          <a:xfrm>
            <a:off x="548640" y="320040"/>
            <a:ext cx="11091240" cy="8683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1" u="none" strike="noStrike">
                <a:solidFill>
                  <a:schemeClr val="dk1"/>
                </a:solidFill>
                <a:effectLst/>
                <a:uFillTx/>
                <a:latin typeface="Segoe UI Semibold"/>
              </a:rPr>
              <a:t>In an emergency, </a:t>
            </a:r>
            <a:r>
              <a:rPr lang="en-US" sz="3000" b="1" u="none" strike="noStrike">
                <a:solidFill>
                  <a:schemeClr val="dk1"/>
                </a:solidFill>
                <a:effectLst/>
                <a:uFillTx/>
                <a:latin typeface="Segoe UI Semibold"/>
              </a:rPr>
              <a:t>families still phone bank </a:t>
            </a:r>
            <a:r>
              <a:rPr lang="en-US" sz="3000" b="1" u="none" strike="noStrike">
                <a:solidFill>
                  <a:schemeClr val="dk1"/>
                </a:solidFill>
                <a:effectLst/>
                <a:uFillTx/>
                <a:latin typeface="Segoe UI Semibold"/>
              </a:rPr>
              <a:t>after bank</a:t>
            </a:r>
            <a:endParaRPr lang="en-US" sz="3000" b="0" u="none" strike="noStrike">
              <a:solidFill>
                <a:schemeClr val="dk1"/>
              </a:solidFill>
              <a:effectLst/>
              <a:uFillTx/>
              <a:latin typeface="Calibri"/>
            </a:endParaRPr>
          </a:p>
        </p:txBody>
      </p:sp>
      <p:sp>
        <p:nvSpPr>
          <p:cNvPr id="28" name="pain icon 1 circle"/>
          <p:cNvSpPr/>
          <p:nvPr/>
        </p:nvSpPr>
        <p:spPr>
          <a:xfrm>
            <a:off x="640080" y="1600200"/>
            <a:ext cx="685440" cy="68544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29" name="pain icon 1" descr="preencoded.png"/>
          <p:cNvPicPr/>
          <p:nvPr/>
        </p:nvPicPr>
        <p:blipFill>
          <a:blip r:embed="rId1"/>
          <a:stretch/>
        </p:blipFill>
        <p:spPr>
          <a:xfrm>
            <a:off x="804600" y="1764720"/>
            <a:ext cx="356400" cy="356400"/>
          </a:xfrm>
          <a:prstGeom prst="rect">
            <a:avLst/>
          </a:prstGeom>
          <a:noFill/>
          <a:ln w="0">
            <a:noFill/>
          </a:ln>
        </p:spPr>
      </p:pic>
      <p:sp>
        <p:nvSpPr>
          <p:cNvPr id="30" name="Text 2"/>
          <p:cNvSpPr/>
          <p:nvPr/>
        </p:nvSpPr>
        <p:spPr>
          <a:xfrm>
            <a:off x="1554480" y="1600200"/>
            <a:ext cx="539460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1" u="none" strike="noStrike">
                <a:solidFill>
                  <a:schemeClr val="dk1"/>
                </a:solidFill>
                <a:effectLst/>
                <a:uFillTx/>
                <a:latin typeface="Calibri"/>
              </a:rPr>
              <a:t>Search one district at a time</a:t>
            </a:r>
            <a:endParaRPr lang="en-US" sz="2200" b="0" u="none" strike="noStrike">
              <a:solidFill>
                <a:srgbClr val="000000"/>
              </a:solidFill>
              <a:effectLst/>
              <a:uFillTx/>
              <a:latin typeface="Arial"/>
            </a:endParaRPr>
          </a:p>
        </p:txBody>
      </p:sp>
      <p:sp>
        <p:nvSpPr>
          <p:cNvPr id="31" name="Text 3"/>
          <p:cNvSpPr/>
          <p:nvPr/>
        </p:nvSpPr>
        <p:spPr>
          <a:xfrm>
            <a:off x="1554480" y="2039040"/>
            <a:ext cx="539460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accent3"/>
                </a:solidFill>
                <a:effectLst/>
                <a:uFillTx/>
                <a:latin typeface="Calibri"/>
              </a:rPr>
              <a:t>eRaktKosh has the data, but it is slow to search on a phone</a:t>
            </a:r>
            <a:endParaRPr lang="en-US" sz="1800" b="0" u="none" strike="noStrike">
              <a:solidFill>
                <a:srgbClr val="000000"/>
              </a:solidFill>
              <a:effectLst/>
              <a:uFillTx/>
              <a:latin typeface="Arial"/>
            </a:endParaRPr>
          </a:p>
        </p:txBody>
      </p:sp>
      <p:sp>
        <p:nvSpPr>
          <p:cNvPr id="32" name="pain icon 2 circle"/>
          <p:cNvSpPr/>
          <p:nvPr/>
        </p:nvSpPr>
        <p:spPr>
          <a:xfrm>
            <a:off x="640080" y="2971800"/>
            <a:ext cx="685440" cy="68544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3" name="pain icon 2" descr="preencoded.png"/>
          <p:cNvPicPr/>
          <p:nvPr/>
        </p:nvPicPr>
        <p:blipFill>
          <a:blip r:embed="rId2"/>
          <a:stretch/>
        </p:blipFill>
        <p:spPr>
          <a:xfrm>
            <a:off x="804600" y="3136320"/>
            <a:ext cx="356400" cy="356400"/>
          </a:xfrm>
          <a:prstGeom prst="rect">
            <a:avLst/>
          </a:prstGeom>
          <a:noFill/>
          <a:ln w="0">
            <a:noFill/>
          </a:ln>
        </p:spPr>
      </p:pic>
      <p:sp>
        <p:nvSpPr>
          <p:cNvPr id="34" name="Text 5"/>
          <p:cNvSpPr/>
          <p:nvPr/>
        </p:nvSpPr>
        <p:spPr>
          <a:xfrm>
            <a:off x="1554480" y="2971800"/>
            <a:ext cx="539460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1" u="none" strike="noStrike">
                <a:solidFill>
                  <a:schemeClr val="dk1"/>
                </a:solidFill>
                <a:effectLst/>
                <a:uFillTx/>
                <a:latin typeface="Calibri"/>
              </a:rPr>
              <a:t>No compatible-group search</a:t>
            </a:r>
            <a:endParaRPr lang="en-US" sz="2200" b="0" u="none" strike="noStrike">
              <a:solidFill>
                <a:srgbClr val="000000"/>
              </a:solidFill>
              <a:effectLst/>
              <a:uFillTx/>
              <a:latin typeface="Arial"/>
            </a:endParaRPr>
          </a:p>
        </p:txBody>
      </p:sp>
      <p:sp>
        <p:nvSpPr>
          <p:cNvPr id="35" name="Text 6"/>
          <p:cNvSpPr/>
          <p:nvPr/>
        </p:nvSpPr>
        <p:spPr>
          <a:xfrm>
            <a:off x="1554480" y="3410640"/>
            <a:ext cx="539460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accent3"/>
                </a:solidFill>
                <a:effectLst/>
                <a:uFillTx/>
                <a:latin typeface="Calibri"/>
              </a:rPr>
              <a:t>An O- patient can only take O-; the portal does not show this</a:t>
            </a:r>
            <a:endParaRPr lang="en-US" sz="1800" b="0" u="none" strike="noStrike">
              <a:solidFill>
                <a:srgbClr val="000000"/>
              </a:solidFill>
              <a:effectLst/>
              <a:uFillTx/>
              <a:latin typeface="Arial"/>
            </a:endParaRPr>
          </a:p>
        </p:txBody>
      </p:sp>
      <p:sp>
        <p:nvSpPr>
          <p:cNvPr id="36" name="pain icon 3 circle"/>
          <p:cNvSpPr/>
          <p:nvPr/>
        </p:nvSpPr>
        <p:spPr>
          <a:xfrm>
            <a:off x="640080" y="4343400"/>
            <a:ext cx="685440" cy="68544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37" name="pain icon 3" descr="preencoded.png"/>
          <p:cNvPicPr/>
          <p:nvPr/>
        </p:nvPicPr>
        <p:blipFill>
          <a:blip r:embed="rId3"/>
          <a:stretch/>
        </p:blipFill>
        <p:spPr>
          <a:xfrm>
            <a:off x="804600" y="4507920"/>
            <a:ext cx="356400" cy="356400"/>
          </a:xfrm>
          <a:prstGeom prst="rect">
            <a:avLst/>
          </a:prstGeom>
          <a:noFill/>
          <a:ln w="0">
            <a:noFill/>
          </a:ln>
        </p:spPr>
      </p:pic>
      <p:sp>
        <p:nvSpPr>
          <p:cNvPr id="38" name="Text 8"/>
          <p:cNvSpPr/>
          <p:nvPr/>
        </p:nvSpPr>
        <p:spPr>
          <a:xfrm>
            <a:off x="1554480" y="4343400"/>
            <a:ext cx="539460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1" u="none" strike="noStrike">
                <a:solidFill>
                  <a:schemeClr val="dk1"/>
                </a:solidFill>
                <a:effectLst/>
                <a:uFillTx/>
                <a:latin typeface="Calibri"/>
              </a:rPr>
              <a:t>No sign of how fresh data is</a:t>
            </a:r>
            <a:endParaRPr lang="en-US" sz="2200" b="0" u="none" strike="noStrike">
              <a:solidFill>
                <a:srgbClr val="000000"/>
              </a:solidFill>
              <a:effectLst/>
              <a:uFillTx/>
              <a:latin typeface="Arial"/>
            </a:endParaRPr>
          </a:p>
        </p:txBody>
      </p:sp>
      <p:sp>
        <p:nvSpPr>
          <p:cNvPr id="39" name="Text 9"/>
          <p:cNvSpPr/>
          <p:nvPr/>
        </p:nvSpPr>
        <p:spPr>
          <a:xfrm>
            <a:off x="1554480" y="4782240"/>
            <a:ext cx="539460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accent3"/>
                </a:solidFill>
                <a:effectLst/>
                <a:uFillTx/>
                <a:latin typeface="Calibri"/>
              </a:rPr>
              <a:t>Some banks have not updated for weeks</a:t>
            </a:r>
            <a:endParaRPr lang="en-US" sz="1800" b="0" u="none" strike="noStrike">
              <a:solidFill>
                <a:srgbClr val="000000"/>
              </a:solidFill>
              <a:effectLst/>
              <a:uFillTx/>
              <a:latin typeface="Arial"/>
            </a:endParaRPr>
          </a:p>
        </p:txBody>
      </p:sp>
      <p:sp>
        <p:nvSpPr>
          <p:cNvPr id="40" name="stat card"/>
          <p:cNvSpPr/>
          <p:nvPr/>
        </p:nvSpPr>
        <p:spPr>
          <a:xfrm>
            <a:off x="7406640" y="1600200"/>
            <a:ext cx="4205880" cy="4023000"/>
          </a:xfrm>
          <a:prstGeom prst="roundRect">
            <a:avLst>
              <a:gd name="adj" fmla="val 2727"/>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1" name="Text 11"/>
          <p:cNvSpPr/>
          <p:nvPr/>
        </p:nvSpPr>
        <p:spPr>
          <a:xfrm>
            <a:off x="7680960" y="1874520"/>
            <a:ext cx="3657240" cy="914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6000" b="1" u="none" strike="noStrike">
                <a:solidFill>
                  <a:schemeClr val="accent1"/>
                </a:solidFill>
                <a:effectLst/>
                <a:uFillTx/>
                <a:latin typeface="Segoe UI Semibold"/>
                <a:ea typeface="Segoe UI Semibold"/>
              </a:rPr>
              <a:t>4,716</a:t>
            </a:r>
            <a:endParaRPr lang="en-US" sz="6000" b="0" u="none" strike="noStrike">
              <a:solidFill>
                <a:srgbClr val="000000"/>
              </a:solidFill>
              <a:effectLst/>
              <a:uFillTx/>
              <a:latin typeface="Arial"/>
            </a:endParaRPr>
          </a:p>
        </p:txBody>
      </p:sp>
      <p:sp>
        <p:nvSpPr>
          <p:cNvPr id="42" name="Text 12"/>
          <p:cNvSpPr/>
          <p:nvPr/>
        </p:nvSpPr>
        <p:spPr>
          <a:xfrm>
            <a:off x="7680960" y="2788920"/>
            <a:ext cx="3657240" cy="4111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800" b="0" u="none" strike="noStrike">
                <a:solidFill>
                  <a:schemeClr val="dk1"/>
                </a:solidFill>
                <a:effectLst/>
                <a:uFillTx/>
                <a:latin typeface="Calibri"/>
              </a:rPr>
              <a:t>blood banks on eRaktKosh</a:t>
            </a:r>
            <a:endParaRPr lang="en-US" sz="1800" b="0" u="none" strike="noStrike">
              <a:solidFill>
                <a:srgbClr val="000000"/>
              </a:solidFill>
              <a:effectLst/>
              <a:uFillTx/>
              <a:latin typeface="Arial"/>
            </a:endParaRPr>
          </a:p>
        </p:txBody>
      </p:sp>
      <p:sp>
        <p:nvSpPr>
          <p:cNvPr id="43" name="Text 13"/>
          <p:cNvSpPr/>
          <p:nvPr/>
        </p:nvSpPr>
        <p:spPr>
          <a:xfrm>
            <a:off x="7680960" y="3383280"/>
            <a:ext cx="3657240" cy="914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6000" b="1" u="none" strike="noStrike">
                <a:solidFill>
                  <a:schemeClr val="accent1"/>
                </a:solidFill>
                <a:effectLst/>
                <a:uFillTx/>
                <a:latin typeface="Segoe UI Semibold"/>
                <a:ea typeface="Segoe UI Semibold"/>
              </a:rPr>
              <a:t>701</a:t>
            </a:r>
            <a:endParaRPr lang="en-US" sz="6000" b="0" u="none" strike="noStrike">
              <a:solidFill>
                <a:srgbClr val="000000"/>
              </a:solidFill>
              <a:effectLst/>
              <a:uFillTx/>
              <a:latin typeface="Arial"/>
            </a:endParaRPr>
          </a:p>
        </p:txBody>
      </p:sp>
      <p:sp>
        <p:nvSpPr>
          <p:cNvPr id="44" name="Text 14"/>
          <p:cNvSpPr/>
          <p:nvPr/>
        </p:nvSpPr>
        <p:spPr>
          <a:xfrm>
            <a:off x="7680960" y="4297680"/>
            <a:ext cx="3657240" cy="4111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800" b="0" u="none" strike="noStrike">
                <a:solidFill>
                  <a:schemeClr val="dk1"/>
                </a:solidFill>
                <a:effectLst/>
                <a:uFillTx/>
                <a:latin typeface="Calibri"/>
              </a:rPr>
              <a:t>districts in 35 states / UTs</a:t>
            </a:r>
            <a:endParaRPr lang="en-US" sz="1800" b="0" u="none" strike="noStrike">
              <a:solidFill>
                <a:srgbClr val="000000"/>
              </a:solidFill>
              <a:effectLst/>
              <a:uFillTx/>
              <a:latin typeface="Arial"/>
            </a:endParaRPr>
          </a:p>
        </p:txBody>
      </p:sp>
      <p:sp>
        <p:nvSpPr>
          <p:cNvPr id="45" name="Text 15"/>
          <p:cNvSpPr/>
          <p:nvPr/>
        </p:nvSpPr>
        <p:spPr>
          <a:xfrm>
            <a:off x="7680960" y="4937760"/>
            <a:ext cx="3657240" cy="4111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800" b="0" i="1" u="none" strike="noStrike">
                <a:solidFill>
                  <a:schemeClr val="accent3"/>
                </a:solidFill>
                <a:effectLst/>
                <a:uFillTx/>
                <a:latin typeface="Calibri"/>
              </a:rPr>
              <a:t>…and every minute counts</a:t>
            </a:r>
            <a:endParaRPr lang="en-US" sz="1800" b="0" u="none" strike="noStrike">
              <a:solidFill>
                <a:srgbClr val="000000"/>
              </a:solidFill>
              <a:effectLst/>
              <a:uFillTx/>
              <a:latin typeface="Arial"/>
            </a:endParaRPr>
          </a:p>
        </p:txBody>
      </p:sp>
      <p:sp>
        <p:nvSpPr>
          <p:cNvPr id="46" name="PlaceHolder 2"/>
          <p:cNvSpPr>
            <a:spLocks noGrp="1"/>
          </p:cNvSpPr>
          <p:nvPr>
            <p:ph type="sldNum" idx="7"/>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C6750128-926C-4B25-A6D8-532D0287F919}"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hasCustomPrompt="1"/>
          </p:nvPr>
        </p:nvSpPr>
        <p:spPr>
          <a:xfrm>
            <a:off x="548640" y="320040"/>
            <a:ext cx="11091240" cy="8683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1" u="none" strike="noStrike">
                <a:solidFill>
                  <a:schemeClr val="dk1"/>
                </a:solidFill>
                <a:effectLst/>
                <a:uFillTx/>
                <a:latin typeface="Segoe UI Semibold"/>
              </a:rPr>
              <a:t>One pipeline collects, checks and serves India's blood stock</a:t>
            </a:r>
            <a:endParaRPr lang="en-US" sz="3000" b="0" u="none" strike="noStrike">
              <a:solidFill>
                <a:schemeClr val="dk1"/>
              </a:solidFill>
              <a:effectLst/>
              <a:uFillTx/>
              <a:latin typeface="Calibri"/>
            </a:endParaRPr>
          </a:p>
        </p:txBody>
      </p:sp>
      <p:sp>
        <p:nvSpPr>
          <p:cNvPr id="48" name="step icon 1 circle"/>
          <p:cNvSpPr/>
          <p:nvPr/>
        </p:nvSpPr>
        <p:spPr>
          <a:xfrm>
            <a:off x="640080" y="1600200"/>
            <a:ext cx="685440" cy="68544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49" name="step icon 1" descr="preencoded.png"/>
          <p:cNvPicPr/>
          <p:nvPr/>
        </p:nvPicPr>
        <p:blipFill>
          <a:blip r:embed="rId1"/>
          <a:stretch/>
        </p:blipFill>
        <p:spPr>
          <a:xfrm>
            <a:off x="804600" y="1764720"/>
            <a:ext cx="356400" cy="356400"/>
          </a:xfrm>
          <a:prstGeom prst="rect">
            <a:avLst/>
          </a:prstGeom>
          <a:noFill/>
          <a:ln w="0">
            <a:noFill/>
          </a:ln>
        </p:spPr>
      </p:pic>
      <p:sp>
        <p:nvSpPr>
          <p:cNvPr id="50" name="Text 2"/>
          <p:cNvSpPr/>
          <p:nvPr/>
        </p:nvSpPr>
        <p:spPr>
          <a:xfrm>
            <a:off x="1554480" y="1600200"/>
            <a:ext cx="429732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1" u="none" strike="noStrike">
                <a:solidFill>
                  <a:schemeClr val="dk1"/>
                </a:solidFill>
                <a:effectLst/>
                <a:uFillTx/>
                <a:latin typeface="Calibri"/>
              </a:rPr>
              <a:t>Collect automatically</a:t>
            </a:r>
            <a:endParaRPr lang="en-US" sz="2200" b="0" u="none" strike="noStrike">
              <a:solidFill>
                <a:srgbClr val="000000"/>
              </a:solidFill>
              <a:effectLst/>
              <a:uFillTx/>
              <a:latin typeface="Arial"/>
            </a:endParaRPr>
          </a:p>
        </p:txBody>
      </p:sp>
      <p:sp>
        <p:nvSpPr>
          <p:cNvPr id="51" name="Text 3"/>
          <p:cNvSpPr/>
          <p:nvPr/>
        </p:nvSpPr>
        <p:spPr>
          <a:xfrm>
            <a:off x="1554480" y="2039040"/>
            <a:ext cx="429732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accent3"/>
                </a:solidFill>
                <a:effectLst/>
                <a:uFillTx/>
                <a:latin typeface="Calibri"/>
              </a:rPr>
              <a:t>Polite crawler fetches every district every 6 hours</a:t>
            </a:r>
            <a:endParaRPr lang="en-US" sz="1800" b="0" u="none" strike="noStrike">
              <a:solidFill>
                <a:srgbClr val="000000"/>
              </a:solidFill>
              <a:effectLst/>
              <a:uFillTx/>
              <a:latin typeface="Arial"/>
            </a:endParaRPr>
          </a:p>
        </p:txBody>
      </p:sp>
      <p:sp>
        <p:nvSpPr>
          <p:cNvPr id="52" name="step icon 2 circle"/>
          <p:cNvSpPr/>
          <p:nvPr/>
        </p:nvSpPr>
        <p:spPr>
          <a:xfrm>
            <a:off x="640080" y="3017520"/>
            <a:ext cx="685440" cy="68544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53" name="step icon 2" descr="preencoded.png"/>
          <p:cNvPicPr/>
          <p:nvPr/>
        </p:nvPicPr>
        <p:blipFill>
          <a:blip r:embed="rId2"/>
          <a:stretch/>
        </p:blipFill>
        <p:spPr>
          <a:xfrm>
            <a:off x="804600" y="3182040"/>
            <a:ext cx="356400" cy="356400"/>
          </a:xfrm>
          <a:prstGeom prst="rect">
            <a:avLst/>
          </a:prstGeom>
          <a:noFill/>
          <a:ln w="0">
            <a:noFill/>
          </a:ln>
        </p:spPr>
      </p:pic>
      <p:sp>
        <p:nvSpPr>
          <p:cNvPr id="54" name="Text 5"/>
          <p:cNvSpPr/>
          <p:nvPr/>
        </p:nvSpPr>
        <p:spPr>
          <a:xfrm>
            <a:off x="1554480" y="3017520"/>
            <a:ext cx="429732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1" u="none" strike="noStrike">
                <a:solidFill>
                  <a:schemeClr val="dk1"/>
                </a:solidFill>
                <a:effectLst/>
                <a:uFillTx/>
                <a:latin typeface="Calibri"/>
              </a:rPr>
              <a:t>Check the quality</a:t>
            </a:r>
            <a:endParaRPr lang="en-US" sz="2200" b="0" u="none" strike="noStrike">
              <a:solidFill>
                <a:srgbClr val="000000"/>
              </a:solidFill>
              <a:effectLst/>
              <a:uFillTx/>
              <a:latin typeface="Arial"/>
            </a:endParaRPr>
          </a:p>
        </p:txBody>
      </p:sp>
      <p:sp>
        <p:nvSpPr>
          <p:cNvPr id="55" name="Text 6"/>
          <p:cNvSpPr/>
          <p:nvPr/>
        </p:nvSpPr>
        <p:spPr>
          <a:xfrm>
            <a:off x="1554480" y="3456360"/>
            <a:ext cx="429732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accent3"/>
                </a:solidFill>
                <a:effectLst/>
                <a:uFillTx/>
                <a:latin typeface="Calibri"/>
              </a:rPr>
              <a:t>37 data tests and a safety gate block bad data</a:t>
            </a:r>
            <a:endParaRPr lang="en-US" sz="1800" b="0" u="none" strike="noStrike">
              <a:solidFill>
                <a:srgbClr val="000000"/>
              </a:solidFill>
              <a:effectLst/>
              <a:uFillTx/>
              <a:latin typeface="Arial"/>
            </a:endParaRPr>
          </a:p>
        </p:txBody>
      </p:sp>
      <p:sp>
        <p:nvSpPr>
          <p:cNvPr id="56" name="step icon 3 circle"/>
          <p:cNvSpPr/>
          <p:nvPr/>
        </p:nvSpPr>
        <p:spPr>
          <a:xfrm>
            <a:off x="640080" y="4434840"/>
            <a:ext cx="685440" cy="68544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57" name="step icon 3" descr="preencoded.png"/>
          <p:cNvPicPr/>
          <p:nvPr/>
        </p:nvPicPr>
        <p:blipFill>
          <a:blip r:embed="rId3"/>
          <a:stretch/>
        </p:blipFill>
        <p:spPr>
          <a:xfrm>
            <a:off x="804600" y="4599360"/>
            <a:ext cx="356400" cy="356400"/>
          </a:xfrm>
          <a:prstGeom prst="rect">
            <a:avLst/>
          </a:prstGeom>
          <a:noFill/>
          <a:ln w="0">
            <a:noFill/>
          </a:ln>
        </p:spPr>
      </p:pic>
      <p:sp>
        <p:nvSpPr>
          <p:cNvPr id="58" name="Text 8"/>
          <p:cNvSpPr/>
          <p:nvPr/>
        </p:nvSpPr>
        <p:spPr>
          <a:xfrm>
            <a:off x="1554480" y="4434840"/>
            <a:ext cx="429732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1" u="none" strike="noStrike">
                <a:solidFill>
                  <a:schemeClr val="dk1"/>
                </a:solidFill>
                <a:effectLst/>
                <a:uFillTx/>
                <a:latin typeface="Calibri"/>
              </a:rPr>
              <a:t>Search instantly on any phone</a:t>
            </a:r>
            <a:endParaRPr lang="en-US" sz="2200" b="0" u="none" strike="noStrike">
              <a:solidFill>
                <a:srgbClr val="000000"/>
              </a:solidFill>
              <a:effectLst/>
              <a:uFillTx/>
              <a:latin typeface="Arial"/>
            </a:endParaRPr>
          </a:p>
        </p:txBody>
      </p:sp>
      <p:sp>
        <p:nvSpPr>
          <p:cNvPr id="59" name="Text 9"/>
          <p:cNvSpPr/>
          <p:nvPr/>
        </p:nvSpPr>
        <p:spPr>
          <a:xfrm>
            <a:off x="1554480" y="4873680"/>
            <a:ext cx="429732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accent3"/>
                </a:solidFill>
                <a:effectLst/>
                <a:uFillTx/>
                <a:latin typeface="Calibri"/>
              </a:rPr>
              <a:t>Fast, installable web app that also works offline</a:t>
            </a:r>
            <a:endParaRPr lang="en-US" sz="1800" b="0" u="none" strike="noStrike">
              <a:solidFill>
                <a:srgbClr val="000000"/>
              </a:solidFill>
              <a:effectLst/>
              <a:uFillTx/>
              <a:latin typeface="Arial"/>
            </a:endParaRPr>
          </a:p>
        </p:txBody>
      </p:sp>
      <p:pic>
        <p:nvPicPr>
          <p:cNvPr id="60" name="home screenshot" descr="/tmp/claude-1000/-home-radhey-Documents-project-idea/521c6db5-d000-4f05-b4bc-4d38341ec59d/scratchpad/deck/img/hero.jpg"/>
          <p:cNvPicPr/>
          <p:nvPr/>
        </p:nvPicPr>
        <p:blipFill>
          <a:blip r:embed="rId4"/>
          <a:stretch/>
        </p:blipFill>
        <p:spPr>
          <a:xfrm>
            <a:off x="6172200" y="1463040"/>
            <a:ext cx="5467680" cy="3419640"/>
          </a:xfrm>
          <a:prstGeom prst="rect">
            <a:avLst/>
          </a:prstGeom>
          <a:noFill/>
          <a:ln w="0">
            <a:noFill/>
          </a:ln>
        </p:spPr>
      </p:pic>
      <p:sp>
        <p:nvSpPr>
          <p:cNvPr id="61" name="home screenshot frame"/>
          <p:cNvSpPr/>
          <p:nvPr/>
        </p:nvSpPr>
        <p:spPr>
          <a:xfrm>
            <a:off x="6172200" y="1463040"/>
            <a:ext cx="5467680" cy="3419640"/>
          </a:xfrm>
          <a:prstGeom prst="rect">
            <a:avLst/>
          </a:prstGeom>
          <a:noFill/>
          <a:ln w="12700">
            <a:solidFill>
              <a:srgbClr val="BDBDBD"/>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62" name="Text 11"/>
          <p:cNvSpPr/>
          <p:nvPr/>
        </p:nvSpPr>
        <p:spPr>
          <a:xfrm>
            <a:off x="6172200" y="4983480"/>
            <a:ext cx="546768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i="1" u="none" strike="noStrike">
                <a:solidFill>
                  <a:schemeClr val="accent3"/>
                </a:solidFill>
                <a:effectLst/>
                <a:uFillTx/>
                <a:latin typeface="Calibri"/>
              </a:rPr>
              <a:t>Home page: live counts of fresh and stale blood banks</a:t>
            </a:r>
            <a:endParaRPr lang="en-US" sz="1400" b="0" u="none" strike="noStrike">
              <a:solidFill>
                <a:srgbClr val="000000"/>
              </a:solidFill>
              <a:effectLst/>
              <a:uFillTx/>
              <a:latin typeface="Arial"/>
            </a:endParaRPr>
          </a:p>
        </p:txBody>
      </p:sp>
      <p:sp>
        <p:nvSpPr>
          <p:cNvPr id="63" name="PlaceHolder 2"/>
          <p:cNvSpPr>
            <a:spLocks noGrp="1"/>
          </p:cNvSpPr>
          <p:nvPr>
            <p:ph type="sldNum" idx="8"/>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2528727B-A0EE-493D-BBF6-820DA0CF724C}"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hasCustomPrompt="1"/>
          </p:nvPr>
        </p:nvSpPr>
        <p:spPr>
          <a:xfrm>
            <a:off x="548640" y="320040"/>
            <a:ext cx="11091240" cy="8683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1" u="none" strike="noStrike">
                <a:solidFill>
                  <a:schemeClr val="dk1"/>
                </a:solidFill>
                <a:effectLst/>
                <a:uFillTx/>
                <a:latin typeface="Segoe UI Semibold"/>
              </a:rPr>
              <a:t>Five kinds of people use Raktsetu for different needs</a:t>
            </a:r>
            <a:endParaRPr lang="en-US" sz="3000" b="0" u="none" strike="noStrike">
              <a:solidFill>
                <a:schemeClr val="dk1"/>
              </a:solidFill>
              <a:effectLst/>
              <a:uFillTx/>
              <a:latin typeface="Calibri"/>
            </a:endParaRPr>
          </a:p>
        </p:txBody>
      </p:sp>
      <p:pic>
        <p:nvPicPr>
          <p:cNvPr id="65" name="use case diagram" descr="/home/radhey/Documents/project_idea/docs/diagrams/use_case_diagram.png"/>
          <p:cNvPicPr/>
          <p:nvPr/>
        </p:nvPicPr>
        <p:blipFill>
          <a:blip r:embed="rId1"/>
          <a:stretch/>
        </p:blipFill>
        <p:spPr>
          <a:xfrm>
            <a:off x="548640" y="1325880"/>
            <a:ext cx="4937400" cy="4836960"/>
          </a:xfrm>
          <a:prstGeom prst="rect">
            <a:avLst/>
          </a:prstGeom>
          <a:noFill/>
          <a:ln w="0">
            <a:noFill/>
          </a:ln>
        </p:spPr>
      </p:pic>
      <p:sp>
        <p:nvSpPr>
          <p:cNvPr id="66" name="actor icon 1 circle"/>
          <p:cNvSpPr/>
          <p:nvPr/>
        </p:nvSpPr>
        <p:spPr>
          <a:xfrm>
            <a:off x="5943600" y="1371600"/>
            <a:ext cx="548280" cy="54828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67" name="actor icon 1" descr="preencoded.png"/>
          <p:cNvPicPr/>
          <p:nvPr/>
        </p:nvPicPr>
        <p:blipFill>
          <a:blip r:embed="rId2"/>
          <a:stretch/>
        </p:blipFill>
        <p:spPr>
          <a:xfrm>
            <a:off x="6075360" y="1503360"/>
            <a:ext cx="284760" cy="284760"/>
          </a:xfrm>
          <a:prstGeom prst="rect">
            <a:avLst/>
          </a:prstGeom>
          <a:noFill/>
          <a:ln w="0">
            <a:noFill/>
          </a:ln>
        </p:spPr>
      </p:pic>
      <p:sp>
        <p:nvSpPr>
          <p:cNvPr id="68" name="Text 2"/>
          <p:cNvSpPr/>
          <p:nvPr/>
        </p:nvSpPr>
        <p:spPr>
          <a:xfrm>
            <a:off x="6675120" y="1334880"/>
            <a:ext cx="493740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900" b="1" u="none" strike="noStrike">
                <a:solidFill>
                  <a:schemeClr val="dk1"/>
                </a:solidFill>
                <a:effectLst/>
                <a:uFillTx/>
                <a:latin typeface="Calibri"/>
              </a:rPr>
              <a:t>Patient's family</a:t>
            </a:r>
            <a:endParaRPr lang="en-US" sz="1900" b="0" u="none" strike="noStrike">
              <a:solidFill>
                <a:srgbClr val="000000"/>
              </a:solidFill>
              <a:effectLst/>
              <a:uFillTx/>
              <a:latin typeface="Arial"/>
            </a:endParaRPr>
          </a:p>
        </p:txBody>
      </p:sp>
      <p:sp>
        <p:nvSpPr>
          <p:cNvPr id="69" name="Text 3"/>
          <p:cNvSpPr/>
          <p:nvPr/>
        </p:nvSpPr>
        <p:spPr>
          <a:xfrm>
            <a:off x="6675120" y="1682640"/>
            <a:ext cx="493740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3"/>
                </a:solidFill>
                <a:effectLst/>
                <a:uFillTx/>
                <a:latin typeface="Calibri"/>
              </a:rPr>
              <a:t>Find nearby stock and call the bank</a:t>
            </a:r>
            <a:endParaRPr lang="en-US" sz="1600" b="0" u="none" strike="noStrike">
              <a:solidFill>
                <a:srgbClr val="000000"/>
              </a:solidFill>
              <a:effectLst/>
              <a:uFillTx/>
              <a:latin typeface="Arial"/>
            </a:endParaRPr>
          </a:p>
        </p:txBody>
      </p:sp>
      <p:sp>
        <p:nvSpPr>
          <p:cNvPr id="70" name="actor icon 2 circle"/>
          <p:cNvSpPr/>
          <p:nvPr/>
        </p:nvSpPr>
        <p:spPr>
          <a:xfrm>
            <a:off x="5943600" y="2267640"/>
            <a:ext cx="548280" cy="54828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71" name="actor icon 2" descr="preencoded.png"/>
          <p:cNvPicPr/>
          <p:nvPr/>
        </p:nvPicPr>
        <p:blipFill>
          <a:blip r:embed="rId3"/>
          <a:stretch/>
        </p:blipFill>
        <p:spPr>
          <a:xfrm>
            <a:off x="6075360" y="2399400"/>
            <a:ext cx="284760" cy="284760"/>
          </a:xfrm>
          <a:prstGeom prst="rect">
            <a:avLst/>
          </a:prstGeom>
          <a:noFill/>
          <a:ln w="0">
            <a:noFill/>
          </a:ln>
        </p:spPr>
      </p:pic>
      <p:sp>
        <p:nvSpPr>
          <p:cNvPr id="72" name="Text 5"/>
          <p:cNvSpPr/>
          <p:nvPr/>
        </p:nvSpPr>
        <p:spPr>
          <a:xfrm>
            <a:off x="6675120" y="2231280"/>
            <a:ext cx="493740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900" b="1" u="none" strike="noStrike">
                <a:solidFill>
                  <a:schemeClr val="dk1"/>
                </a:solidFill>
                <a:effectLst/>
                <a:uFillTx/>
                <a:latin typeface="Calibri"/>
              </a:rPr>
              <a:t>Doctor / hospital staff</a:t>
            </a:r>
            <a:endParaRPr lang="en-US" sz="1900" b="0" u="none" strike="noStrike">
              <a:solidFill>
                <a:srgbClr val="000000"/>
              </a:solidFill>
              <a:effectLst/>
              <a:uFillTx/>
              <a:latin typeface="Arial"/>
            </a:endParaRPr>
          </a:p>
        </p:txBody>
      </p:sp>
      <p:sp>
        <p:nvSpPr>
          <p:cNvPr id="73" name="Text 6"/>
          <p:cNvSpPr/>
          <p:nvPr/>
        </p:nvSpPr>
        <p:spPr>
          <a:xfrm>
            <a:off x="6675120" y="2578680"/>
            <a:ext cx="493740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3"/>
                </a:solidFill>
                <a:effectLst/>
                <a:uFillTx/>
                <a:latin typeface="Calibri"/>
              </a:rPr>
              <a:t>Emergency Mode: compatible, ranked banks</a:t>
            </a:r>
            <a:endParaRPr lang="en-US" sz="1600" b="0" u="none" strike="noStrike">
              <a:solidFill>
                <a:srgbClr val="000000"/>
              </a:solidFill>
              <a:effectLst/>
              <a:uFillTx/>
              <a:latin typeface="Arial"/>
            </a:endParaRPr>
          </a:p>
        </p:txBody>
      </p:sp>
      <p:sp>
        <p:nvSpPr>
          <p:cNvPr id="74" name="actor icon 3 circle"/>
          <p:cNvSpPr/>
          <p:nvPr/>
        </p:nvSpPr>
        <p:spPr>
          <a:xfrm>
            <a:off x="5943600" y="3163680"/>
            <a:ext cx="548280" cy="54828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75" name="actor icon 3" descr="preencoded.png"/>
          <p:cNvPicPr/>
          <p:nvPr/>
        </p:nvPicPr>
        <p:blipFill>
          <a:blip r:embed="rId4"/>
          <a:stretch/>
        </p:blipFill>
        <p:spPr>
          <a:xfrm>
            <a:off x="6075360" y="3295440"/>
            <a:ext cx="284760" cy="284760"/>
          </a:xfrm>
          <a:prstGeom prst="rect">
            <a:avLst/>
          </a:prstGeom>
          <a:noFill/>
          <a:ln w="0">
            <a:noFill/>
          </a:ln>
        </p:spPr>
      </p:pic>
      <p:sp>
        <p:nvSpPr>
          <p:cNvPr id="76" name="Text 8"/>
          <p:cNvSpPr/>
          <p:nvPr/>
        </p:nvSpPr>
        <p:spPr>
          <a:xfrm>
            <a:off x="6675120" y="3127320"/>
            <a:ext cx="493740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900" b="1" u="none" strike="noStrike">
                <a:solidFill>
                  <a:schemeClr val="dk1"/>
                </a:solidFill>
                <a:effectLst/>
                <a:uFillTx/>
                <a:latin typeface="Calibri"/>
              </a:rPr>
              <a:t>Health official</a:t>
            </a:r>
            <a:endParaRPr lang="en-US" sz="1900" b="0" u="none" strike="noStrike">
              <a:solidFill>
                <a:srgbClr val="000000"/>
              </a:solidFill>
              <a:effectLst/>
              <a:uFillTx/>
              <a:latin typeface="Arial"/>
            </a:endParaRPr>
          </a:p>
        </p:txBody>
      </p:sp>
      <p:sp>
        <p:nvSpPr>
          <p:cNvPr id="77" name="Text 9"/>
          <p:cNvSpPr/>
          <p:nvPr/>
        </p:nvSpPr>
        <p:spPr>
          <a:xfrm>
            <a:off x="6675120" y="3474720"/>
            <a:ext cx="493740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3"/>
                </a:solidFill>
                <a:effectLst/>
                <a:uFillTx/>
                <a:latin typeface="Calibri"/>
              </a:rPr>
              <a:t>District shortages, rare blood, CSV export</a:t>
            </a:r>
            <a:endParaRPr lang="en-US" sz="1600" b="0" u="none" strike="noStrike">
              <a:solidFill>
                <a:srgbClr val="000000"/>
              </a:solidFill>
              <a:effectLst/>
              <a:uFillTx/>
              <a:latin typeface="Arial"/>
            </a:endParaRPr>
          </a:p>
        </p:txBody>
      </p:sp>
      <p:sp>
        <p:nvSpPr>
          <p:cNvPr id="78" name="actor icon 4 circle"/>
          <p:cNvSpPr/>
          <p:nvPr/>
        </p:nvSpPr>
        <p:spPr>
          <a:xfrm>
            <a:off x="5943600" y="4060080"/>
            <a:ext cx="548280" cy="54828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79" name="actor icon 4" descr="preencoded.png"/>
          <p:cNvPicPr/>
          <p:nvPr/>
        </p:nvPicPr>
        <p:blipFill>
          <a:blip r:embed="rId5"/>
          <a:stretch/>
        </p:blipFill>
        <p:spPr>
          <a:xfrm>
            <a:off x="6075360" y="4191480"/>
            <a:ext cx="284760" cy="284760"/>
          </a:xfrm>
          <a:prstGeom prst="rect">
            <a:avLst/>
          </a:prstGeom>
          <a:noFill/>
          <a:ln w="0">
            <a:noFill/>
          </a:ln>
        </p:spPr>
      </p:pic>
      <p:sp>
        <p:nvSpPr>
          <p:cNvPr id="80" name="Text 11"/>
          <p:cNvSpPr/>
          <p:nvPr/>
        </p:nvSpPr>
        <p:spPr>
          <a:xfrm>
            <a:off x="6675120" y="4023360"/>
            <a:ext cx="493740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900" b="1" u="none" strike="noStrike">
                <a:solidFill>
                  <a:schemeClr val="dk1"/>
                </a:solidFill>
                <a:effectLst/>
                <a:uFillTx/>
                <a:latin typeface="Calibri"/>
              </a:rPr>
              <a:t>Blood donor</a:t>
            </a:r>
            <a:endParaRPr lang="en-US" sz="1900" b="0" u="none" strike="noStrike">
              <a:solidFill>
                <a:srgbClr val="000000"/>
              </a:solidFill>
              <a:effectLst/>
              <a:uFillTx/>
              <a:latin typeface="Arial"/>
            </a:endParaRPr>
          </a:p>
        </p:txBody>
      </p:sp>
      <p:sp>
        <p:nvSpPr>
          <p:cNvPr id="81" name="Text 12"/>
          <p:cNvSpPr/>
          <p:nvPr/>
        </p:nvSpPr>
        <p:spPr>
          <a:xfrm>
            <a:off x="6675120" y="4370760"/>
            <a:ext cx="493740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3"/>
                </a:solidFill>
                <a:effectLst/>
                <a:uFillTx/>
                <a:latin typeface="Calibri"/>
              </a:rPr>
              <a:t>Check eligibility, see where stock is low</a:t>
            </a:r>
            <a:endParaRPr lang="en-US" sz="1600" b="0" u="none" strike="noStrike">
              <a:solidFill>
                <a:srgbClr val="000000"/>
              </a:solidFill>
              <a:effectLst/>
              <a:uFillTx/>
              <a:latin typeface="Arial"/>
            </a:endParaRPr>
          </a:p>
        </p:txBody>
      </p:sp>
      <p:sp>
        <p:nvSpPr>
          <p:cNvPr id="82" name="actor icon 5 circle"/>
          <p:cNvSpPr/>
          <p:nvPr/>
        </p:nvSpPr>
        <p:spPr>
          <a:xfrm>
            <a:off x="5943600" y="4956120"/>
            <a:ext cx="548280" cy="54828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83" name="actor icon 5" descr="preencoded.png"/>
          <p:cNvPicPr/>
          <p:nvPr/>
        </p:nvPicPr>
        <p:blipFill>
          <a:blip r:embed="rId6"/>
          <a:stretch/>
        </p:blipFill>
        <p:spPr>
          <a:xfrm>
            <a:off x="6075360" y="5087880"/>
            <a:ext cx="284760" cy="284760"/>
          </a:xfrm>
          <a:prstGeom prst="rect">
            <a:avLst/>
          </a:prstGeom>
          <a:noFill/>
          <a:ln w="0">
            <a:noFill/>
          </a:ln>
        </p:spPr>
      </p:pic>
      <p:sp>
        <p:nvSpPr>
          <p:cNvPr id="84" name="Text 14"/>
          <p:cNvSpPr/>
          <p:nvPr/>
        </p:nvSpPr>
        <p:spPr>
          <a:xfrm>
            <a:off x="6675120" y="4919400"/>
            <a:ext cx="493740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900" b="1" u="none" strike="noStrike">
                <a:solidFill>
                  <a:schemeClr val="dk1"/>
                </a:solidFill>
                <a:effectLst/>
                <a:uFillTx/>
                <a:latin typeface="Calibri"/>
              </a:rPr>
              <a:t>Operator</a:t>
            </a:r>
            <a:endParaRPr lang="en-US" sz="1900" b="0" u="none" strike="noStrike">
              <a:solidFill>
                <a:srgbClr val="000000"/>
              </a:solidFill>
              <a:effectLst/>
              <a:uFillTx/>
              <a:latin typeface="Arial"/>
            </a:endParaRPr>
          </a:p>
        </p:txBody>
      </p:sp>
      <p:sp>
        <p:nvSpPr>
          <p:cNvPr id="85" name="Text 15"/>
          <p:cNvSpPr/>
          <p:nvPr/>
        </p:nvSpPr>
        <p:spPr>
          <a:xfrm>
            <a:off x="6675120" y="5266800"/>
            <a:ext cx="493740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3"/>
                </a:solidFill>
                <a:effectLst/>
                <a:uFillTx/>
                <a:latin typeface="Calibri"/>
              </a:rPr>
              <a:t>Runs the pipeline and watches data health</a:t>
            </a:r>
            <a:endParaRPr lang="en-US" sz="1600" b="0" u="none" strike="noStrike">
              <a:solidFill>
                <a:srgbClr val="000000"/>
              </a:solidFill>
              <a:effectLst/>
              <a:uFillTx/>
              <a:latin typeface="Arial"/>
            </a:endParaRPr>
          </a:p>
        </p:txBody>
      </p:sp>
      <p:sp>
        <p:nvSpPr>
          <p:cNvPr id="86" name="Text 16"/>
          <p:cNvSpPr/>
          <p:nvPr/>
        </p:nvSpPr>
        <p:spPr>
          <a:xfrm>
            <a:off x="5943600" y="5852160"/>
            <a:ext cx="566892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i="1" u="none" strike="noStrike">
                <a:solidFill>
                  <a:schemeClr val="accent1"/>
                </a:solidFill>
                <a:effectLst/>
                <a:uFillTx/>
                <a:latin typeface="Calibri"/>
              </a:rPr>
              <a:t>System actors: eRaktKosh portal, Device GPS, OpenStreetMap</a:t>
            </a:r>
            <a:endParaRPr lang="en-US" sz="1600" b="0" u="none" strike="noStrike">
              <a:solidFill>
                <a:srgbClr val="000000"/>
              </a:solidFill>
              <a:effectLst/>
              <a:uFillTx/>
              <a:latin typeface="Arial"/>
            </a:endParaRPr>
          </a:p>
        </p:txBody>
      </p:sp>
      <p:sp>
        <p:nvSpPr>
          <p:cNvPr id="87" name="PlaceHolder 2"/>
          <p:cNvSpPr>
            <a:spLocks noGrp="1"/>
          </p:cNvSpPr>
          <p:nvPr>
            <p:ph type="sldNum" idx="9"/>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CE61BD6D-A59A-45F4-832D-1BA5776815A8}"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hasCustomPrompt="1"/>
          </p:nvPr>
        </p:nvSpPr>
        <p:spPr>
          <a:xfrm>
            <a:off x="548640" y="320040"/>
            <a:ext cx="11091240" cy="8683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1" u="none" strike="noStrike">
                <a:solidFill>
                  <a:schemeClr val="dk1"/>
                </a:solidFill>
                <a:effectLst/>
                <a:uFillTx/>
                <a:latin typeface="Segoe UI Semibold"/>
              </a:rPr>
              <a:t>Six features turn raw stock data into fast decisions</a:t>
            </a:r>
            <a:endParaRPr lang="en-US" sz="3000" b="0" u="none" strike="noStrike">
              <a:solidFill>
                <a:schemeClr val="dk1"/>
              </a:solidFill>
              <a:effectLst/>
              <a:uFillTx/>
              <a:latin typeface="Calibri"/>
            </a:endParaRPr>
          </a:p>
        </p:txBody>
      </p:sp>
      <p:sp>
        <p:nvSpPr>
          <p:cNvPr id="89" name="feature card 1"/>
          <p:cNvSpPr/>
          <p:nvPr/>
        </p:nvSpPr>
        <p:spPr>
          <a:xfrm>
            <a:off x="548640" y="1417320"/>
            <a:ext cx="3520080" cy="2148480"/>
          </a:xfrm>
          <a:prstGeom prst="roundRect">
            <a:avLst>
              <a:gd name="adj" fmla="val 5106"/>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90" name="feature icon 1 circle"/>
          <p:cNvSpPr/>
          <p:nvPr/>
        </p:nvSpPr>
        <p:spPr>
          <a:xfrm>
            <a:off x="822960" y="1691640"/>
            <a:ext cx="594000" cy="59400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91" name="feature icon 1" descr="preencoded.png"/>
          <p:cNvPicPr/>
          <p:nvPr/>
        </p:nvPicPr>
        <p:blipFill>
          <a:blip r:embed="rId1"/>
          <a:stretch/>
        </p:blipFill>
        <p:spPr>
          <a:xfrm>
            <a:off x="965520" y="1834200"/>
            <a:ext cx="308880" cy="308880"/>
          </a:xfrm>
          <a:prstGeom prst="rect">
            <a:avLst/>
          </a:prstGeom>
          <a:noFill/>
          <a:ln w="0">
            <a:noFill/>
          </a:ln>
        </p:spPr>
      </p:pic>
      <p:sp>
        <p:nvSpPr>
          <p:cNvPr id="92" name="Text 3"/>
          <p:cNvSpPr/>
          <p:nvPr/>
        </p:nvSpPr>
        <p:spPr>
          <a:xfrm>
            <a:off x="1554480" y="1783080"/>
            <a:ext cx="23770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dk1"/>
                </a:solidFill>
                <a:effectLst/>
                <a:uFillTx/>
                <a:latin typeface="Calibri"/>
              </a:rPr>
              <a:t>Blood Finder</a:t>
            </a:r>
            <a:endParaRPr lang="en-US" sz="2000" b="0" u="none" strike="noStrike">
              <a:solidFill>
                <a:srgbClr val="000000"/>
              </a:solidFill>
              <a:effectLst/>
              <a:uFillTx/>
              <a:latin typeface="Arial"/>
            </a:endParaRPr>
          </a:p>
        </p:txBody>
      </p:sp>
      <p:sp>
        <p:nvSpPr>
          <p:cNvPr id="93" name="Text 4"/>
          <p:cNvSpPr/>
          <p:nvPr/>
        </p:nvSpPr>
        <p:spPr>
          <a:xfrm>
            <a:off x="822960" y="2468880"/>
            <a:ext cx="301716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3"/>
                </a:solidFill>
                <a:effectLst/>
                <a:uFillTx/>
                <a:latin typeface="Calibri"/>
              </a:rPr>
              <a:t>State, district, group and component filters with sorting</a:t>
            </a:r>
            <a:endParaRPr lang="en-US" sz="1600" b="0" u="none" strike="noStrike">
              <a:solidFill>
                <a:srgbClr val="000000"/>
              </a:solidFill>
              <a:effectLst/>
              <a:uFillTx/>
              <a:latin typeface="Arial"/>
            </a:endParaRPr>
          </a:p>
        </p:txBody>
      </p:sp>
      <p:sp>
        <p:nvSpPr>
          <p:cNvPr id="94" name="feature card 2"/>
          <p:cNvSpPr/>
          <p:nvPr/>
        </p:nvSpPr>
        <p:spPr>
          <a:xfrm>
            <a:off x="4297680" y="1417320"/>
            <a:ext cx="3520080" cy="2148480"/>
          </a:xfrm>
          <a:prstGeom prst="roundRect">
            <a:avLst>
              <a:gd name="adj" fmla="val 5106"/>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95" name="feature icon 2 circle"/>
          <p:cNvSpPr/>
          <p:nvPr/>
        </p:nvSpPr>
        <p:spPr>
          <a:xfrm>
            <a:off x="4572000" y="1691640"/>
            <a:ext cx="594000" cy="59400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96" name="feature icon 2" descr="preencoded.png"/>
          <p:cNvPicPr/>
          <p:nvPr/>
        </p:nvPicPr>
        <p:blipFill>
          <a:blip r:embed="rId2"/>
          <a:stretch/>
        </p:blipFill>
        <p:spPr>
          <a:xfrm>
            <a:off x="4714560" y="1834200"/>
            <a:ext cx="308880" cy="308880"/>
          </a:xfrm>
          <a:prstGeom prst="rect">
            <a:avLst/>
          </a:prstGeom>
          <a:noFill/>
          <a:ln w="0">
            <a:noFill/>
          </a:ln>
        </p:spPr>
      </p:pic>
      <p:sp>
        <p:nvSpPr>
          <p:cNvPr id="97" name="Text 7"/>
          <p:cNvSpPr/>
          <p:nvPr/>
        </p:nvSpPr>
        <p:spPr>
          <a:xfrm>
            <a:off x="5303520" y="1783080"/>
            <a:ext cx="23770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dk1"/>
                </a:solidFill>
                <a:effectLst/>
                <a:uFillTx/>
                <a:latin typeface="Calibri"/>
              </a:rPr>
              <a:t>Emergency Mode</a:t>
            </a:r>
            <a:endParaRPr lang="en-US" sz="2000" b="0" u="none" strike="noStrike">
              <a:solidFill>
                <a:srgbClr val="000000"/>
              </a:solidFill>
              <a:effectLst/>
              <a:uFillTx/>
              <a:latin typeface="Arial"/>
            </a:endParaRPr>
          </a:p>
        </p:txBody>
      </p:sp>
      <p:sp>
        <p:nvSpPr>
          <p:cNvPr id="98" name="Text 8"/>
          <p:cNvSpPr/>
          <p:nvPr/>
        </p:nvSpPr>
        <p:spPr>
          <a:xfrm>
            <a:off x="4572000" y="2468880"/>
            <a:ext cx="301716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3"/>
                </a:solidFill>
                <a:effectLst/>
                <a:uFillTx/>
                <a:latin typeface="Calibri"/>
              </a:rPr>
              <a:t>Compatible groups, ranked by freshness, trust and distance</a:t>
            </a:r>
            <a:endParaRPr lang="en-US" sz="1600" b="0" u="none" strike="noStrike">
              <a:solidFill>
                <a:srgbClr val="000000"/>
              </a:solidFill>
              <a:effectLst/>
              <a:uFillTx/>
              <a:latin typeface="Arial"/>
            </a:endParaRPr>
          </a:p>
        </p:txBody>
      </p:sp>
      <p:sp>
        <p:nvSpPr>
          <p:cNvPr id="99" name="feature card 3"/>
          <p:cNvSpPr/>
          <p:nvPr/>
        </p:nvSpPr>
        <p:spPr>
          <a:xfrm>
            <a:off x="8046720" y="1417320"/>
            <a:ext cx="3520080" cy="2148480"/>
          </a:xfrm>
          <a:prstGeom prst="roundRect">
            <a:avLst>
              <a:gd name="adj" fmla="val 5106"/>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0" name="feature icon 3 circle"/>
          <p:cNvSpPr/>
          <p:nvPr/>
        </p:nvSpPr>
        <p:spPr>
          <a:xfrm>
            <a:off x="8321040" y="1691640"/>
            <a:ext cx="594000" cy="59400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01" name="feature icon 3" descr="preencoded.png"/>
          <p:cNvPicPr/>
          <p:nvPr/>
        </p:nvPicPr>
        <p:blipFill>
          <a:blip r:embed="rId3"/>
          <a:stretch/>
        </p:blipFill>
        <p:spPr>
          <a:xfrm>
            <a:off x="8463600" y="1834200"/>
            <a:ext cx="308880" cy="308880"/>
          </a:xfrm>
          <a:prstGeom prst="rect">
            <a:avLst/>
          </a:prstGeom>
          <a:noFill/>
          <a:ln w="0">
            <a:noFill/>
          </a:ln>
        </p:spPr>
      </p:pic>
      <p:sp>
        <p:nvSpPr>
          <p:cNvPr id="102" name="Text 11"/>
          <p:cNvSpPr/>
          <p:nvPr/>
        </p:nvSpPr>
        <p:spPr>
          <a:xfrm>
            <a:off x="9052560" y="1783080"/>
            <a:ext cx="23770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dk1"/>
                </a:solidFill>
                <a:effectLst/>
                <a:uFillTx/>
                <a:latin typeface="Calibri"/>
              </a:rPr>
              <a:t>Map + Near Me</a:t>
            </a:r>
            <a:endParaRPr lang="en-US" sz="2000" b="0" u="none" strike="noStrike">
              <a:solidFill>
                <a:srgbClr val="000000"/>
              </a:solidFill>
              <a:effectLst/>
              <a:uFillTx/>
              <a:latin typeface="Arial"/>
            </a:endParaRPr>
          </a:p>
        </p:txBody>
      </p:sp>
      <p:sp>
        <p:nvSpPr>
          <p:cNvPr id="103" name="Text 12"/>
          <p:cNvSpPr/>
          <p:nvPr/>
        </p:nvSpPr>
        <p:spPr>
          <a:xfrm>
            <a:off x="8321040" y="2468880"/>
            <a:ext cx="301716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3"/>
                </a:solidFill>
                <a:effectLst/>
                <a:uFillTx/>
                <a:latin typeface="Calibri"/>
              </a:rPr>
              <a:t>Banks on a map; GPS search widens 50 → 150 → 400 km</a:t>
            </a:r>
            <a:endParaRPr lang="en-US" sz="1600" b="0" u="none" strike="noStrike">
              <a:solidFill>
                <a:srgbClr val="000000"/>
              </a:solidFill>
              <a:effectLst/>
              <a:uFillTx/>
              <a:latin typeface="Arial"/>
            </a:endParaRPr>
          </a:p>
        </p:txBody>
      </p:sp>
      <p:sp>
        <p:nvSpPr>
          <p:cNvPr id="104" name="feature card 4"/>
          <p:cNvSpPr/>
          <p:nvPr/>
        </p:nvSpPr>
        <p:spPr>
          <a:xfrm>
            <a:off x="548640" y="3794760"/>
            <a:ext cx="3520080" cy="2148480"/>
          </a:xfrm>
          <a:prstGeom prst="roundRect">
            <a:avLst>
              <a:gd name="adj" fmla="val 5106"/>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05" name="feature icon 4 circle"/>
          <p:cNvSpPr/>
          <p:nvPr/>
        </p:nvSpPr>
        <p:spPr>
          <a:xfrm>
            <a:off x="822960" y="4069080"/>
            <a:ext cx="594000" cy="59400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06" name="feature icon 4" descr="preencoded.png"/>
          <p:cNvPicPr/>
          <p:nvPr/>
        </p:nvPicPr>
        <p:blipFill>
          <a:blip r:embed="rId4"/>
          <a:stretch/>
        </p:blipFill>
        <p:spPr>
          <a:xfrm>
            <a:off x="965520" y="4211640"/>
            <a:ext cx="308880" cy="308880"/>
          </a:xfrm>
          <a:prstGeom prst="rect">
            <a:avLst/>
          </a:prstGeom>
          <a:noFill/>
          <a:ln w="0">
            <a:noFill/>
          </a:ln>
        </p:spPr>
      </p:pic>
      <p:sp>
        <p:nvSpPr>
          <p:cNvPr id="107" name="Text 15"/>
          <p:cNvSpPr/>
          <p:nvPr/>
        </p:nvSpPr>
        <p:spPr>
          <a:xfrm>
            <a:off x="1554480" y="4160520"/>
            <a:ext cx="23770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dk1"/>
                </a:solidFill>
                <a:effectLst/>
                <a:uFillTx/>
                <a:latin typeface="Calibri"/>
              </a:rPr>
              <a:t>Trust Score</a:t>
            </a:r>
            <a:endParaRPr lang="en-US" sz="2000" b="0" u="none" strike="noStrike">
              <a:solidFill>
                <a:srgbClr val="000000"/>
              </a:solidFill>
              <a:effectLst/>
              <a:uFillTx/>
              <a:latin typeface="Arial"/>
            </a:endParaRPr>
          </a:p>
        </p:txBody>
      </p:sp>
      <p:sp>
        <p:nvSpPr>
          <p:cNvPr id="108" name="Text 16"/>
          <p:cNvSpPr/>
          <p:nvPr/>
        </p:nvSpPr>
        <p:spPr>
          <a:xfrm>
            <a:off x="822960" y="4846320"/>
            <a:ext cx="301716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3"/>
                </a:solidFill>
                <a:effectLst/>
                <a:uFillTx/>
                <a:latin typeface="Calibri"/>
              </a:rPr>
              <a:t>0–100 score from freshness, phone and coverage</a:t>
            </a:r>
            <a:endParaRPr lang="en-US" sz="1600" b="0" u="none" strike="noStrike">
              <a:solidFill>
                <a:srgbClr val="000000"/>
              </a:solidFill>
              <a:effectLst/>
              <a:uFillTx/>
              <a:latin typeface="Arial"/>
            </a:endParaRPr>
          </a:p>
        </p:txBody>
      </p:sp>
      <p:sp>
        <p:nvSpPr>
          <p:cNvPr id="109" name="feature card 5"/>
          <p:cNvSpPr/>
          <p:nvPr/>
        </p:nvSpPr>
        <p:spPr>
          <a:xfrm>
            <a:off x="4297680" y="3794760"/>
            <a:ext cx="3520080" cy="2148480"/>
          </a:xfrm>
          <a:prstGeom prst="roundRect">
            <a:avLst>
              <a:gd name="adj" fmla="val 5106"/>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0" name="feature icon 5 circle"/>
          <p:cNvSpPr/>
          <p:nvPr/>
        </p:nvSpPr>
        <p:spPr>
          <a:xfrm>
            <a:off x="4572000" y="4069080"/>
            <a:ext cx="594000" cy="59400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11" name="feature icon 5" descr="preencoded.png"/>
          <p:cNvPicPr/>
          <p:nvPr/>
        </p:nvPicPr>
        <p:blipFill>
          <a:blip r:embed="rId5"/>
          <a:stretch/>
        </p:blipFill>
        <p:spPr>
          <a:xfrm>
            <a:off x="4714560" y="4211640"/>
            <a:ext cx="308880" cy="308880"/>
          </a:xfrm>
          <a:prstGeom prst="rect">
            <a:avLst/>
          </a:prstGeom>
          <a:noFill/>
          <a:ln w="0">
            <a:noFill/>
          </a:ln>
        </p:spPr>
      </p:pic>
      <p:sp>
        <p:nvSpPr>
          <p:cNvPr id="112" name="Text 19"/>
          <p:cNvSpPr/>
          <p:nvPr/>
        </p:nvSpPr>
        <p:spPr>
          <a:xfrm>
            <a:off x="5303520" y="4160520"/>
            <a:ext cx="23770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dk1"/>
                </a:solidFill>
                <a:effectLst/>
                <a:uFillTx/>
                <a:latin typeface="Calibri"/>
              </a:rPr>
              <a:t>Shortages + Rare Radar</a:t>
            </a:r>
            <a:endParaRPr lang="en-US" sz="2000" b="0" u="none" strike="noStrike">
              <a:solidFill>
                <a:srgbClr val="000000"/>
              </a:solidFill>
              <a:effectLst/>
              <a:uFillTx/>
              <a:latin typeface="Arial"/>
            </a:endParaRPr>
          </a:p>
        </p:txBody>
      </p:sp>
      <p:sp>
        <p:nvSpPr>
          <p:cNvPr id="113" name="Text 20"/>
          <p:cNvSpPr/>
          <p:nvPr/>
        </p:nvSpPr>
        <p:spPr>
          <a:xfrm>
            <a:off x="4572000" y="4846320"/>
            <a:ext cx="301716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3"/>
                </a:solidFill>
                <a:effectLst/>
                <a:uFillTx/>
                <a:latin typeface="Calibri"/>
              </a:rPr>
              <a:t>Districts running out; where Rh-negative and Bombay are</a:t>
            </a:r>
            <a:endParaRPr lang="en-US" sz="1600" b="0" u="none" strike="noStrike">
              <a:solidFill>
                <a:srgbClr val="000000"/>
              </a:solidFill>
              <a:effectLst/>
              <a:uFillTx/>
              <a:latin typeface="Arial"/>
            </a:endParaRPr>
          </a:p>
        </p:txBody>
      </p:sp>
      <p:sp>
        <p:nvSpPr>
          <p:cNvPr id="114" name="feature card 6"/>
          <p:cNvSpPr/>
          <p:nvPr/>
        </p:nvSpPr>
        <p:spPr>
          <a:xfrm>
            <a:off x="8046720" y="3794760"/>
            <a:ext cx="3520080" cy="2148480"/>
          </a:xfrm>
          <a:prstGeom prst="roundRect">
            <a:avLst>
              <a:gd name="adj" fmla="val 5106"/>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15" name="feature icon 6 circle"/>
          <p:cNvSpPr/>
          <p:nvPr/>
        </p:nvSpPr>
        <p:spPr>
          <a:xfrm>
            <a:off x="8321040" y="4069080"/>
            <a:ext cx="594000" cy="594000"/>
          </a:xfrm>
          <a:prstGeom prst="ellipse">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pic>
        <p:nvPicPr>
          <p:cNvPr id="116" name="feature icon 6" descr="preencoded.png"/>
          <p:cNvPicPr/>
          <p:nvPr/>
        </p:nvPicPr>
        <p:blipFill>
          <a:blip r:embed="rId6"/>
          <a:stretch/>
        </p:blipFill>
        <p:spPr>
          <a:xfrm>
            <a:off x="8463600" y="4211640"/>
            <a:ext cx="308880" cy="308880"/>
          </a:xfrm>
          <a:prstGeom prst="rect">
            <a:avLst/>
          </a:prstGeom>
          <a:noFill/>
          <a:ln w="0">
            <a:noFill/>
          </a:ln>
        </p:spPr>
      </p:pic>
      <p:sp>
        <p:nvSpPr>
          <p:cNvPr id="117" name="Text 23"/>
          <p:cNvSpPr/>
          <p:nvPr/>
        </p:nvSpPr>
        <p:spPr>
          <a:xfrm>
            <a:off x="9052560" y="4160520"/>
            <a:ext cx="237708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dk1"/>
                </a:solidFill>
                <a:effectLst/>
                <a:uFillTx/>
                <a:latin typeface="Calibri"/>
              </a:rPr>
              <a:t>Export, Donor Check, Offline</a:t>
            </a:r>
            <a:endParaRPr lang="en-US" sz="2000" b="0" u="none" strike="noStrike">
              <a:solidFill>
                <a:srgbClr val="000000"/>
              </a:solidFill>
              <a:effectLst/>
              <a:uFillTx/>
              <a:latin typeface="Arial"/>
            </a:endParaRPr>
          </a:p>
        </p:txBody>
      </p:sp>
      <p:sp>
        <p:nvSpPr>
          <p:cNvPr id="118" name="Text 24"/>
          <p:cNvSpPr/>
          <p:nvPr/>
        </p:nvSpPr>
        <p:spPr>
          <a:xfrm>
            <a:off x="8321040" y="4846320"/>
            <a:ext cx="301716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3"/>
                </a:solidFill>
                <a:effectLst/>
                <a:uFillTx/>
                <a:latin typeface="Calibri"/>
              </a:rPr>
              <a:t>Excel-safe CSV, eligibility checker, works without internet</a:t>
            </a:r>
            <a:endParaRPr lang="en-US" sz="1600" b="0" u="none" strike="noStrike">
              <a:solidFill>
                <a:srgbClr val="000000"/>
              </a:solidFill>
              <a:effectLst/>
              <a:uFillTx/>
              <a:latin typeface="Arial"/>
            </a:endParaRPr>
          </a:p>
        </p:txBody>
      </p:sp>
      <p:sp>
        <p:nvSpPr>
          <p:cNvPr id="119" name="PlaceHolder 2"/>
          <p:cNvSpPr>
            <a:spLocks noGrp="1"/>
          </p:cNvSpPr>
          <p:nvPr>
            <p:ph type="sldNum" idx="10"/>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83FF6F28-69D4-464E-BB01-ED1BAFDE5907}"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hasCustomPrompt="1"/>
          </p:nvPr>
        </p:nvSpPr>
        <p:spPr>
          <a:xfrm>
            <a:off x="548640" y="320040"/>
            <a:ext cx="11091240" cy="8683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1" u="none" strike="noStrike">
                <a:solidFill>
                  <a:schemeClr val="dk1"/>
                </a:solidFill>
                <a:effectLst/>
                <a:uFillTx/>
                <a:latin typeface="Segoe UI Semibold"/>
              </a:rPr>
              <a:t>The same app works on a desktop and a phone</a:t>
            </a:r>
            <a:endParaRPr lang="en-US" sz="3000" b="0" u="none" strike="noStrike">
              <a:solidFill>
                <a:schemeClr val="dk1"/>
              </a:solidFill>
              <a:effectLst/>
              <a:uFillTx/>
              <a:latin typeface="Calibri"/>
            </a:endParaRPr>
          </a:p>
        </p:txBody>
      </p:sp>
      <p:pic>
        <p:nvPicPr>
          <p:cNvPr id="121" name="emergency screenshot" descr="/tmp/claude-1000/-home-radhey-Documents-project-idea/521c6db5-d000-4f05-b4bc-4d38341ec59d/scratchpad/deck/img/emergency.jpg"/>
          <p:cNvPicPr/>
          <p:nvPr/>
        </p:nvPicPr>
        <p:blipFill>
          <a:blip r:embed="rId1"/>
          <a:stretch/>
        </p:blipFill>
        <p:spPr>
          <a:xfrm>
            <a:off x="548640" y="1417320"/>
            <a:ext cx="4269960" cy="3748680"/>
          </a:xfrm>
          <a:prstGeom prst="rect">
            <a:avLst/>
          </a:prstGeom>
          <a:noFill/>
          <a:ln w="0">
            <a:noFill/>
          </a:ln>
        </p:spPr>
      </p:pic>
      <p:sp>
        <p:nvSpPr>
          <p:cNvPr id="122" name="emergency screenshot frame"/>
          <p:cNvSpPr/>
          <p:nvPr/>
        </p:nvSpPr>
        <p:spPr>
          <a:xfrm>
            <a:off x="548640" y="1417320"/>
            <a:ext cx="4269960" cy="3748680"/>
          </a:xfrm>
          <a:prstGeom prst="rect">
            <a:avLst/>
          </a:prstGeom>
          <a:noFill/>
          <a:ln w="12700">
            <a:solidFill>
              <a:srgbClr val="BDBDBD"/>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23" name="map screenshot" descr="/tmp/claude-1000/-home-radhey-Documents-project-idea/521c6db5-d000-4f05-b4bc-4d38341ec59d/scratchpad/deck/img/map.jpg"/>
          <p:cNvPicPr/>
          <p:nvPr/>
        </p:nvPicPr>
        <p:blipFill>
          <a:blip r:embed="rId2"/>
          <a:stretch/>
        </p:blipFill>
        <p:spPr>
          <a:xfrm>
            <a:off x="5175360" y="1417320"/>
            <a:ext cx="4233240" cy="3748680"/>
          </a:xfrm>
          <a:prstGeom prst="rect">
            <a:avLst/>
          </a:prstGeom>
          <a:noFill/>
          <a:ln w="0">
            <a:noFill/>
          </a:ln>
        </p:spPr>
      </p:pic>
      <p:sp>
        <p:nvSpPr>
          <p:cNvPr id="124" name="map screenshot frame"/>
          <p:cNvSpPr/>
          <p:nvPr/>
        </p:nvSpPr>
        <p:spPr>
          <a:xfrm>
            <a:off x="5175360" y="1417320"/>
            <a:ext cx="4233240" cy="3748680"/>
          </a:xfrm>
          <a:prstGeom prst="rect">
            <a:avLst/>
          </a:prstGeom>
          <a:noFill/>
          <a:ln w="12700">
            <a:solidFill>
              <a:srgbClr val="BDBDBD"/>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25" name="mobile screenshot" descr="/tmp/claude-1000/-home-radhey-Documents-project-idea/521c6db5-d000-4f05-b4bc-4d38341ec59d/scratchpad/deck/img/mobile.jpg"/>
          <p:cNvPicPr/>
          <p:nvPr/>
        </p:nvPicPr>
        <p:blipFill>
          <a:blip r:embed="rId3"/>
          <a:stretch/>
        </p:blipFill>
        <p:spPr>
          <a:xfrm>
            <a:off x="9765720" y="1417320"/>
            <a:ext cx="1874160" cy="3748680"/>
          </a:xfrm>
          <a:prstGeom prst="rect">
            <a:avLst/>
          </a:prstGeom>
          <a:noFill/>
          <a:ln w="0">
            <a:noFill/>
          </a:ln>
        </p:spPr>
      </p:pic>
      <p:sp>
        <p:nvSpPr>
          <p:cNvPr id="126" name="mobile screenshot frame"/>
          <p:cNvSpPr/>
          <p:nvPr/>
        </p:nvSpPr>
        <p:spPr>
          <a:xfrm>
            <a:off x="9765720" y="1417320"/>
            <a:ext cx="1874160" cy="3748680"/>
          </a:xfrm>
          <a:prstGeom prst="rect">
            <a:avLst/>
          </a:prstGeom>
          <a:noFill/>
          <a:ln w="12700">
            <a:solidFill>
              <a:srgbClr val="BDBDBD"/>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27" name="Text 4"/>
          <p:cNvSpPr/>
          <p:nvPr/>
        </p:nvSpPr>
        <p:spPr>
          <a:xfrm>
            <a:off x="548640" y="5303520"/>
            <a:ext cx="426996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accent3"/>
                </a:solidFill>
                <a:effectLst/>
                <a:uFillTx/>
                <a:latin typeface="Calibri"/>
              </a:rPr>
              <a:t>Emergency Mode: ranked banks, each with a reason</a:t>
            </a:r>
            <a:endParaRPr lang="en-US" sz="1500" b="0" u="none" strike="noStrike">
              <a:solidFill>
                <a:srgbClr val="000000"/>
              </a:solidFill>
              <a:effectLst/>
              <a:uFillTx/>
              <a:latin typeface="Arial"/>
            </a:endParaRPr>
          </a:p>
        </p:txBody>
      </p:sp>
      <p:sp>
        <p:nvSpPr>
          <p:cNvPr id="128" name="Text 5"/>
          <p:cNvSpPr/>
          <p:nvPr/>
        </p:nvSpPr>
        <p:spPr>
          <a:xfrm>
            <a:off x="5175360" y="5303520"/>
            <a:ext cx="423324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accent3"/>
                </a:solidFill>
                <a:effectLst/>
                <a:uFillTx/>
                <a:latin typeface="Calibri"/>
              </a:rPr>
              <a:t>Map view: click a pin to see and call</a:t>
            </a:r>
            <a:endParaRPr lang="en-US" sz="1500" b="0" u="none" strike="noStrike">
              <a:solidFill>
                <a:srgbClr val="000000"/>
              </a:solidFill>
              <a:effectLst/>
              <a:uFillTx/>
              <a:latin typeface="Arial"/>
            </a:endParaRPr>
          </a:p>
        </p:txBody>
      </p:sp>
      <p:sp>
        <p:nvSpPr>
          <p:cNvPr id="129" name="Text 6"/>
          <p:cNvSpPr/>
          <p:nvPr/>
        </p:nvSpPr>
        <p:spPr>
          <a:xfrm>
            <a:off x="9765720" y="5303520"/>
            <a:ext cx="187416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chemeClr val="accent3"/>
                </a:solidFill>
                <a:effectLst/>
                <a:uFillTx/>
                <a:latin typeface="Calibri"/>
              </a:rPr>
              <a:t>Phone view</a:t>
            </a:r>
            <a:endParaRPr lang="en-US" sz="1500" b="0" u="none" strike="noStrike">
              <a:solidFill>
                <a:srgbClr val="000000"/>
              </a:solidFill>
              <a:effectLst/>
              <a:uFillTx/>
              <a:latin typeface="Arial"/>
            </a:endParaRPr>
          </a:p>
        </p:txBody>
      </p:sp>
      <p:sp>
        <p:nvSpPr>
          <p:cNvPr id="130" name="PlaceHolder 2"/>
          <p:cNvSpPr>
            <a:spLocks noGrp="1"/>
          </p:cNvSpPr>
          <p:nvPr>
            <p:ph type="sldNum" idx="11"/>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3EDE0FCF-2B89-4556-BF81-455565BB05D6}"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hasCustomPrompt="1"/>
          </p:nvPr>
        </p:nvSpPr>
        <p:spPr>
          <a:xfrm>
            <a:off x="548640" y="320040"/>
            <a:ext cx="11091240" cy="8683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1" u="none" strike="noStrike">
                <a:solidFill>
                  <a:schemeClr val="dk1"/>
                </a:solidFill>
                <a:effectLst/>
                <a:uFillTx/>
                <a:latin typeface="Segoe UI Semibold"/>
              </a:rPr>
              <a:t>Data is kept raw, checked, then published safely</a:t>
            </a:r>
            <a:endParaRPr lang="en-US" sz="3000" b="0" u="none" strike="noStrike">
              <a:solidFill>
                <a:schemeClr val="dk1"/>
              </a:solidFill>
              <a:effectLst/>
              <a:uFillTx/>
              <a:latin typeface="Calibri"/>
            </a:endParaRPr>
          </a:p>
        </p:txBody>
      </p:sp>
      <p:sp>
        <p:nvSpPr>
          <p:cNvPr id="132" name="flow step 1"/>
          <p:cNvSpPr/>
          <p:nvPr/>
        </p:nvSpPr>
        <p:spPr>
          <a:xfrm>
            <a:off x="548640" y="1554480"/>
            <a:ext cx="2331360" cy="1096920"/>
          </a:xfrm>
          <a:prstGeom prst="roundRect">
            <a:avLst>
              <a:gd name="adj" fmla="val 10000"/>
            </a:avLst>
          </a:prstGeom>
          <a:solidFill>
            <a:schemeClr val="bg1"/>
          </a:solidFill>
          <a:ln w="1905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3" name="Text 2"/>
          <p:cNvSpPr/>
          <p:nvPr/>
        </p:nvSpPr>
        <p:spPr>
          <a:xfrm>
            <a:off x="548640" y="1554480"/>
            <a:ext cx="233136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dk1"/>
                </a:solidFill>
                <a:effectLst/>
                <a:uFillTx/>
                <a:latin typeface="Calibri"/>
              </a:rPr>
              <a:t>Scraper</a:t>
            </a:r>
            <a:endParaRPr lang="en-US" sz="1800" b="0" u="none" strike="noStrike">
              <a:solidFill>
                <a:srgbClr val="000000"/>
              </a:solidFill>
              <a:effectLst/>
              <a:uFillTx/>
              <a:latin typeface="Arial"/>
            </a:endParaRPr>
          </a:p>
          <a:p>
            <a:pPr algn="ctr" defTabSz="914400">
              <a:lnSpc>
                <a:spcPct val="100000"/>
              </a:lnSpc>
              <a:tabLst>
                <a:tab pos="0" algn="l"/>
              </a:tabLst>
            </a:pPr>
            <a:r>
              <a:rPr lang="en-US" sz="1800" b="1" u="none" strike="noStrike">
                <a:solidFill>
                  <a:schemeClr val="dk1"/>
                </a:solidFill>
                <a:effectLst/>
                <a:uFillTx/>
                <a:latin typeface="Calibri"/>
              </a:rPr>
              <a:t>(aiohttp)</a:t>
            </a:r>
            <a:endParaRPr lang="en-US" sz="1800" b="0" u="none" strike="noStrike">
              <a:solidFill>
                <a:srgbClr val="000000"/>
              </a:solidFill>
              <a:effectLst/>
              <a:uFillTx/>
              <a:latin typeface="Arial"/>
            </a:endParaRPr>
          </a:p>
        </p:txBody>
      </p:sp>
      <p:sp>
        <p:nvSpPr>
          <p:cNvPr id="134" name="arrow 1"/>
          <p:cNvSpPr/>
          <p:nvPr/>
        </p:nvSpPr>
        <p:spPr>
          <a:xfrm>
            <a:off x="2880360" y="2103120"/>
            <a:ext cx="548640" cy="360"/>
          </a:xfrm>
          <a:prstGeom prst="line">
            <a:avLst/>
          </a:prstGeom>
          <a:ln w="25400">
            <a:solidFill>
              <a:srgbClr val="546E7A"/>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35" name="flow step 2"/>
          <p:cNvSpPr/>
          <p:nvPr/>
        </p:nvSpPr>
        <p:spPr>
          <a:xfrm>
            <a:off x="3429000" y="1554480"/>
            <a:ext cx="2331360" cy="1096920"/>
          </a:xfrm>
          <a:prstGeom prst="roundRect">
            <a:avLst>
              <a:gd name="adj" fmla="val 10000"/>
            </a:avLst>
          </a:prstGeom>
          <a:solidFill>
            <a:schemeClr val="bg1"/>
          </a:solidFill>
          <a:ln w="1905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6" name="Text 5"/>
          <p:cNvSpPr/>
          <p:nvPr/>
        </p:nvSpPr>
        <p:spPr>
          <a:xfrm>
            <a:off x="3429000" y="1554480"/>
            <a:ext cx="233136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dk1"/>
                </a:solidFill>
                <a:effectLst/>
                <a:uFillTx/>
                <a:latin typeface="Calibri"/>
              </a:rPr>
              <a:t>Parquet</a:t>
            </a:r>
            <a:endParaRPr lang="en-US" sz="1800" b="0" u="none" strike="noStrike">
              <a:solidFill>
                <a:srgbClr val="000000"/>
              </a:solidFill>
              <a:effectLst/>
              <a:uFillTx/>
              <a:latin typeface="Arial"/>
            </a:endParaRPr>
          </a:p>
          <a:p>
            <a:pPr algn="ctr" defTabSz="914400">
              <a:lnSpc>
                <a:spcPct val="100000"/>
              </a:lnSpc>
              <a:tabLst>
                <a:tab pos="0" algn="l"/>
              </a:tabLst>
            </a:pPr>
            <a:r>
              <a:rPr lang="en-US" sz="1800" b="1" u="none" strike="noStrike">
                <a:solidFill>
                  <a:schemeClr val="dk1"/>
                </a:solidFill>
                <a:effectLst/>
                <a:uFillTx/>
                <a:latin typeface="Calibri"/>
              </a:rPr>
              <a:t>landing</a:t>
            </a:r>
            <a:endParaRPr lang="en-US" sz="1800" b="0" u="none" strike="noStrike">
              <a:solidFill>
                <a:srgbClr val="000000"/>
              </a:solidFill>
              <a:effectLst/>
              <a:uFillTx/>
              <a:latin typeface="Arial"/>
            </a:endParaRPr>
          </a:p>
        </p:txBody>
      </p:sp>
      <p:sp>
        <p:nvSpPr>
          <p:cNvPr id="137" name="arrow 2"/>
          <p:cNvSpPr/>
          <p:nvPr/>
        </p:nvSpPr>
        <p:spPr>
          <a:xfrm>
            <a:off x="5760720" y="2103120"/>
            <a:ext cx="548640" cy="360"/>
          </a:xfrm>
          <a:prstGeom prst="line">
            <a:avLst/>
          </a:prstGeom>
          <a:ln w="25400">
            <a:solidFill>
              <a:srgbClr val="546E7A"/>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38" name="flow step 3"/>
          <p:cNvSpPr/>
          <p:nvPr/>
        </p:nvSpPr>
        <p:spPr>
          <a:xfrm>
            <a:off x="6309360" y="1554480"/>
            <a:ext cx="2331360" cy="1096920"/>
          </a:xfrm>
          <a:prstGeom prst="roundRect">
            <a:avLst>
              <a:gd name="adj" fmla="val 10000"/>
            </a:avLst>
          </a:prstGeom>
          <a:solidFill>
            <a:schemeClr val="bg1"/>
          </a:solidFill>
          <a:ln w="1905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39" name="Text 8"/>
          <p:cNvSpPr/>
          <p:nvPr/>
        </p:nvSpPr>
        <p:spPr>
          <a:xfrm>
            <a:off x="6309360" y="1554480"/>
            <a:ext cx="233136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dk1"/>
                </a:solidFill>
                <a:effectLst/>
                <a:uFillTx/>
                <a:latin typeface="Calibri"/>
              </a:rPr>
              <a:t>DuckDB</a:t>
            </a:r>
            <a:endParaRPr lang="en-US" sz="1800" b="0" u="none" strike="noStrike">
              <a:solidFill>
                <a:srgbClr val="000000"/>
              </a:solidFill>
              <a:effectLst/>
              <a:uFillTx/>
              <a:latin typeface="Arial"/>
            </a:endParaRPr>
          </a:p>
          <a:p>
            <a:pPr algn="ctr" defTabSz="914400">
              <a:lnSpc>
                <a:spcPct val="100000"/>
              </a:lnSpc>
              <a:tabLst>
                <a:tab pos="0" algn="l"/>
              </a:tabLst>
            </a:pPr>
            <a:r>
              <a:rPr lang="en-US" sz="1800" b="1" u="none" strike="noStrike">
                <a:solidFill>
                  <a:schemeClr val="dk1"/>
                </a:solidFill>
                <a:effectLst/>
                <a:uFillTx/>
                <a:latin typeface="Calibri"/>
              </a:rPr>
              <a:t>bronze</a:t>
            </a:r>
            <a:endParaRPr lang="en-US" sz="1800" b="0" u="none" strike="noStrike">
              <a:solidFill>
                <a:srgbClr val="000000"/>
              </a:solidFill>
              <a:effectLst/>
              <a:uFillTx/>
              <a:latin typeface="Arial"/>
            </a:endParaRPr>
          </a:p>
        </p:txBody>
      </p:sp>
      <p:sp>
        <p:nvSpPr>
          <p:cNvPr id="140" name="arrow 3"/>
          <p:cNvSpPr/>
          <p:nvPr/>
        </p:nvSpPr>
        <p:spPr>
          <a:xfrm>
            <a:off x="8641080" y="2103120"/>
            <a:ext cx="548640" cy="360"/>
          </a:xfrm>
          <a:prstGeom prst="line">
            <a:avLst/>
          </a:prstGeom>
          <a:ln w="25400">
            <a:solidFill>
              <a:srgbClr val="546E7A"/>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41" name="flow step 4"/>
          <p:cNvSpPr/>
          <p:nvPr/>
        </p:nvSpPr>
        <p:spPr>
          <a:xfrm>
            <a:off x="9189720" y="1554480"/>
            <a:ext cx="2331360" cy="1096920"/>
          </a:xfrm>
          <a:prstGeom prst="roundRect">
            <a:avLst>
              <a:gd name="adj" fmla="val 10000"/>
            </a:avLst>
          </a:prstGeom>
          <a:solidFill>
            <a:schemeClr val="bg1"/>
          </a:solidFill>
          <a:ln w="1905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42" name="Text 11"/>
          <p:cNvSpPr/>
          <p:nvPr/>
        </p:nvSpPr>
        <p:spPr>
          <a:xfrm>
            <a:off x="9189720" y="1554480"/>
            <a:ext cx="233136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dk1"/>
                </a:solidFill>
                <a:effectLst/>
                <a:uFillTx/>
                <a:latin typeface="Calibri"/>
              </a:rPr>
              <a:t>dbt silver</a:t>
            </a:r>
            <a:endParaRPr lang="en-US" sz="1800" b="0" u="none" strike="noStrike">
              <a:solidFill>
                <a:srgbClr val="000000"/>
              </a:solidFill>
              <a:effectLst/>
              <a:uFillTx/>
              <a:latin typeface="Arial"/>
            </a:endParaRPr>
          </a:p>
          <a:p>
            <a:pPr algn="ctr" defTabSz="914400">
              <a:lnSpc>
                <a:spcPct val="100000"/>
              </a:lnSpc>
              <a:tabLst>
                <a:tab pos="0" algn="l"/>
              </a:tabLst>
            </a:pPr>
            <a:r>
              <a:rPr lang="en-US" sz="1800" b="1" u="none" strike="noStrike">
                <a:solidFill>
                  <a:schemeClr val="dk1"/>
                </a:solidFill>
                <a:effectLst/>
                <a:uFillTx/>
                <a:latin typeface="Calibri"/>
              </a:rPr>
              <a:t>+ gold</a:t>
            </a:r>
            <a:endParaRPr lang="en-US" sz="1800" b="0" u="none" strike="noStrike">
              <a:solidFill>
                <a:srgbClr val="000000"/>
              </a:solidFill>
              <a:effectLst/>
              <a:uFillTx/>
              <a:latin typeface="Arial"/>
            </a:endParaRPr>
          </a:p>
        </p:txBody>
      </p:sp>
      <p:sp>
        <p:nvSpPr>
          <p:cNvPr id="143" name="arrow down"/>
          <p:cNvSpPr/>
          <p:nvPr/>
        </p:nvSpPr>
        <p:spPr>
          <a:xfrm>
            <a:off x="10355400" y="2651760"/>
            <a:ext cx="360" cy="777240"/>
          </a:xfrm>
          <a:prstGeom prst="line">
            <a:avLst/>
          </a:prstGeom>
          <a:ln w="25400">
            <a:solidFill>
              <a:srgbClr val="546E7A"/>
            </a:solidFill>
            <a:round/>
            <a:tailEnd len="med" type="triangle" w="med"/>
          </a:ln>
        </p:spPr>
        <p:style>
          <a:lnRef idx="0"/>
          <a:fillRef idx="0"/>
          <a:effectRef idx="0"/>
          <a:fontRef idx="minor"/>
        </p:style>
        <p:txBody>
          <a:bodyPr lIns="90000" tIns="45000" rIns="90000" bIns="45000" anchor="t" anchorCtr="1">
            <a:noAutofit/>
          </a:bodyPr>
          <a:p>
            <a:pPr/>
            <a:endParaRPr lang="en-US" sz="1800" b="0" u="none" strike="noStrike">
              <a:solidFill>
                <a:srgbClr val="000000"/>
              </a:solidFill>
              <a:effectLst/>
              <a:uFillTx/>
              <a:latin typeface="Arial"/>
            </a:endParaRPr>
          </a:p>
        </p:txBody>
      </p:sp>
      <p:sp>
        <p:nvSpPr>
          <p:cNvPr id="144" name="flow step 5"/>
          <p:cNvSpPr/>
          <p:nvPr/>
        </p:nvSpPr>
        <p:spPr>
          <a:xfrm>
            <a:off x="9189720" y="3429000"/>
            <a:ext cx="2331360" cy="1096920"/>
          </a:xfrm>
          <a:prstGeom prst="roundRect">
            <a:avLst>
              <a:gd name="adj" fmla="val 10000"/>
            </a:avLst>
          </a:prstGeom>
          <a:solidFill>
            <a:schemeClr val="accent1"/>
          </a:solidFill>
          <a:ln w="1905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45" name="Text 14"/>
          <p:cNvSpPr/>
          <p:nvPr/>
        </p:nvSpPr>
        <p:spPr>
          <a:xfrm>
            <a:off x="9189720" y="3429000"/>
            <a:ext cx="233136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lt1"/>
                </a:solidFill>
                <a:effectLst/>
                <a:uFillTx/>
                <a:latin typeface="Calibri"/>
              </a:rPr>
              <a:t>Quality</a:t>
            </a:r>
            <a:endParaRPr lang="en-US" sz="1800" b="0" u="none" strike="noStrike">
              <a:solidFill>
                <a:srgbClr val="000000"/>
              </a:solidFill>
              <a:effectLst/>
              <a:uFillTx/>
              <a:latin typeface="Arial"/>
            </a:endParaRPr>
          </a:p>
          <a:p>
            <a:pPr algn="ctr" defTabSz="914400">
              <a:lnSpc>
                <a:spcPct val="100000"/>
              </a:lnSpc>
              <a:tabLst>
                <a:tab pos="0" algn="l"/>
              </a:tabLst>
            </a:pPr>
            <a:r>
              <a:rPr lang="en-US" sz="1800" b="1" u="none" strike="noStrike">
                <a:solidFill>
                  <a:schemeClr val="lt1"/>
                </a:solidFill>
                <a:effectLst/>
                <a:uFillTx/>
                <a:latin typeface="Calibri"/>
              </a:rPr>
              <a:t>gate</a:t>
            </a:r>
            <a:endParaRPr lang="en-US" sz="1800" b="0" u="none" strike="noStrike">
              <a:solidFill>
                <a:srgbClr val="000000"/>
              </a:solidFill>
              <a:effectLst/>
              <a:uFillTx/>
              <a:latin typeface="Arial"/>
            </a:endParaRPr>
          </a:p>
        </p:txBody>
      </p:sp>
      <p:sp>
        <p:nvSpPr>
          <p:cNvPr id="146" name="arrow 5"/>
          <p:cNvSpPr/>
          <p:nvPr/>
        </p:nvSpPr>
        <p:spPr>
          <a:xfrm flipH="1">
            <a:off x="8641080" y="3977640"/>
            <a:ext cx="548640" cy="360"/>
          </a:xfrm>
          <a:prstGeom prst="line">
            <a:avLst/>
          </a:prstGeom>
          <a:ln w="25400">
            <a:solidFill>
              <a:srgbClr val="546E7A"/>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47" name="flow step 6"/>
          <p:cNvSpPr/>
          <p:nvPr/>
        </p:nvSpPr>
        <p:spPr>
          <a:xfrm>
            <a:off x="6309360" y="3429000"/>
            <a:ext cx="2331360" cy="1096920"/>
          </a:xfrm>
          <a:prstGeom prst="roundRect">
            <a:avLst>
              <a:gd name="adj" fmla="val 10000"/>
            </a:avLst>
          </a:prstGeom>
          <a:solidFill>
            <a:schemeClr val="bg1"/>
          </a:solidFill>
          <a:ln w="1905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48" name="Text 17"/>
          <p:cNvSpPr/>
          <p:nvPr/>
        </p:nvSpPr>
        <p:spPr>
          <a:xfrm>
            <a:off x="6309360" y="3429000"/>
            <a:ext cx="233136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dk1"/>
                </a:solidFill>
                <a:effectLst/>
                <a:uFillTx/>
                <a:latin typeface="Calibri"/>
              </a:rPr>
              <a:t>serving</a:t>
            </a:r>
            <a:endParaRPr lang="en-US" sz="1800" b="0" u="none" strike="noStrike">
              <a:solidFill>
                <a:srgbClr val="000000"/>
              </a:solidFill>
              <a:effectLst/>
              <a:uFillTx/>
              <a:latin typeface="Arial"/>
            </a:endParaRPr>
          </a:p>
          <a:p>
            <a:pPr algn="ctr" defTabSz="914400">
              <a:lnSpc>
                <a:spcPct val="100000"/>
              </a:lnSpc>
              <a:tabLst>
                <a:tab pos="0" algn="l"/>
              </a:tabLst>
            </a:pPr>
            <a:r>
              <a:rPr lang="en-US" sz="1800" b="1" u="none" strike="noStrike">
                <a:solidFill>
                  <a:schemeClr val="dk1"/>
                </a:solidFill>
                <a:effectLst/>
                <a:uFillTx/>
                <a:latin typeface="Calibri"/>
              </a:rPr>
              <a:t>.duckdb</a:t>
            </a:r>
            <a:endParaRPr lang="en-US" sz="1800" b="0" u="none" strike="noStrike">
              <a:solidFill>
                <a:srgbClr val="000000"/>
              </a:solidFill>
              <a:effectLst/>
              <a:uFillTx/>
              <a:latin typeface="Arial"/>
            </a:endParaRPr>
          </a:p>
        </p:txBody>
      </p:sp>
      <p:sp>
        <p:nvSpPr>
          <p:cNvPr id="149" name="arrow 6"/>
          <p:cNvSpPr/>
          <p:nvPr/>
        </p:nvSpPr>
        <p:spPr>
          <a:xfrm flipH="1">
            <a:off x="5760720" y="3977640"/>
            <a:ext cx="548640" cy="360"/>
          </a:xfrm>
          <a:prstGeom prst="line">
            <a:avLst/>
          </a:prstGeom>
          <a:ln w="25400">
            <a:solidFill>
              <a:srgbClr val="546E7A"/>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50" name="flow step 7"/>
          <p:cNvSpPr/>
          <p:nvPr/>
        </p:nvSpPr>
        <p:spPr>
          <a:xfrm>
            <a:off x="3429000" y="3429000"/>
            <a:ext cx="2331360" cy="1096920"/>
          </a:xfrm>
          <a:prstGeom prst="roundRect">
            <a:avLst>
              <a:gd name="adj" fmla="val 10000"/>
            </a:avLst>
          </a:prstGeom>
          <a:solidFill>
            <a:schemeClr val="bg1"/>
          </a:solidFill>
          <a:ln w="1905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51" name="Text 20"/>
          <p:cNvSpPr/>
          <p:nvPr/>
        </p:nvSpPr>
        <p:spPr>
          <a:xfrm>
            <a:off x="3429000" y="3429000"/>
            <a:ext cx="233136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dk1"/>
                </a:solidFill>
                <a:effectLst/>
                <a:uFillTx/>
                <a:latin typeface="Calibri"/>
              </a:rPr>
              <a:t>FastAPI</a:t>
            </a:r>
            <a:endParaRPr lang="en-US" sz="1800" b="0" u="none" strike="noStrike">
              <a:solidFill>
                <a:srgbClr val="000000"/>
              </a:solidFill>
              <a:effectLst/>
              <a:uFillTx/>
              <a:latin typeface="Arial"/>
            </a:endParaRPr>
          </a:p>
        </p:txBody>
      </p:sp>
      <p:sp>
        <p:nvSpPr>
          <p:cNvPr id="152" name="arrow 7"/>
          <p:cNvSpPr/>
          <p:nvPr/>
        </p:nvSpPr>
        <p:spPr>
          <a:xfrm flipH="1">
            <a:off x="2880360" y="3977640"/>
            <a:ext cx="548640" cy="360"/>
          </a:xfrm>
          <a:prstGeom prst="line">
            <a:avLst/>
          </a:prstGeom>
          <a:ln w="25400">
            <a:solidFill>
              <a:srgbClr val="546E7A"/>
            </a:solidFill>
            <a:round/>
            <a:tailEnd len="med" type="triangle" w="me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53" name="flow step 8"/>
          <p:cNvSpPr/>
          <p:nvPr/>
        </p:nvSpPr>
        <p:spPr>
          <a:xfrm>
            <a:off x="548640" y="3429000"/>
            <a:ext cx="2331360" cy="1096920"/>
          </a:xfrm>
          <a:prstGeom prst="roundRect">
            <a:avLst>
              <a:gd name="adj" fmla="val 10000"/>
            </a:avLst>
          </a:prstGeom>
          <a:solidFill>
            <a:schemeClr val="bg1"/>
          </a:solidFill>
          <a:ln w="1905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54" name="Text 23"/>
          <p:cNvSpPr/>
          <p:nvPr/>
        </p:nvSpPr>
        <p:spPr>
          <a:xfrm>
            <a:off x="548640" y="3429000"/>
            <a:ext cx="233136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dk1"/>
                </a:solidFill>
                <a:effectLst/>
                <a:uFillTx/>
                <a:latin typeface="Calibri"/>
              </a:rPr>
              <a:t>Web app</a:t>
            </a:r>
            <a:endParaRPr lang="en-US" sz="1800" b="0" u="none" strike="noStrike">
              <a:solidFill>
                <a:srgbClr val="000000"/>
              </a:solidFill>
              <a:effectLst/>
              <a:uFillTx/>
              <a:latin typeface="Arial"/>
            </a:endParaRPr>
          </a:p>
          <a:p>
            <a:pPr algn="ctr" defTabSz="914400">
              <a:lnSpc>
                <a:spcPct val="100000"/>
              </a:lnSpc>
              <a:tabLst>
                <a:tab pos="0" algn="l"/>
              </a:tabLst>
            </a:pPr>
            <a:r>
              <a:rPr lang="en-US" sz="1800" b="1" u="none" strike="noStrike">
                <a:solidFill>
                  <a:schemeClr val="dk1"/>
                </a:solidFill>
                <a:effectLst/>
                <a:uFillTx/>
                <a:latin typeface="Calibri"/>
              </a:rPr>
              <a:t>(PWA)</a:t>
            </a:r>
            <a:endParaRPr lang="en-US" sz="1800" b="0" u="none" strike="noStrike">
              <a:solidFill>
                <a:srgbClr val="000000"/>
              </a:solidFill>
              <a:effectLst/>
              <a:uFillTx/>
              <a:latin typeface="Arial"/>
            </a:endParaRPr>
          </a:p>
        </p:txBody>
      </p:sp>
      <p:sp>
        <p:nvSpPr>
          <p:cNvPr id="155" name="why card"/>
          <p:cNvSpPr/>
          <p:nvPr/>
        </p:nvSpPr>
        <p:spPr>
          <a:xfrm>
            <a:off x="548640" y="4892040"/>
            <a:ext cx="11091240" cy="1188360"/>
          </a:xfrm>
          <a:prstGeom prst="roundRect">
            <a:avLst>
              <a:gd name="adj" fmla="val 9231"/>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56" name="Text 25"/>
          <p:cNvSpPr/>
          <p:nvPr/>
        </p:nvSpPr>
        <p:spPr>
          <a:xfrm>
            <a:off x="822960" y="50292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accent1"/>
                </a:solidFill>
                <a:effectLst/>
                <a:uFillTx/>
                <a:latin typeface="Calibri"/>
              </a:rPr>
              <a:t>Why layers? </a:t>
            </a:r>
            <a:r>
              <a:rPr lang="en-US" sz="1800" b="0" u="none" strike="noStrike">
                <a:solidFill>
                  <a:schemeClr val="dk1"/>
                </a:solidFill>
                <a:effectLst/>
                <a:uFillTx/>
                <a:latin typeface="Calibri"/>
              </a:rPr>
              <a:t>Raw files are never changed, so any table can be rebuilt. If a scrape is bad (banks drop below 80% of the last run), publishing stops and users keep yesterday's good data.</a:t>
            </a:r>
            <a:endParaRPr lang="en-US" sz="1800" b="0" u="none" strike="noStrike">
              <a:solidFill>
                <a:srgbClr val="000000"/>
              </a:solidFill>
              <a:effectLst/>
              <a:uFillTx/>
              <a:latin typeface="Arial"/>
            </a:endParaRPr>
          </a:p>
        </p:txBody>
      </p:sp>
      <p:sp>
        <p:nvSpPr>
          <p:cNvPr id="157" name="PlaceHolder 2"/>
          <p:cNvSpPr>
            <a:spLocks noGrp="1"/>
          </p:cNvSpPr>
          <p:nvPr>
            <p:ph type="sldNum" idx="12"/>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08271733-C81C-4EEB-A8FA-F74AD71DBEC1}"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hasCustomPrompt="1"/>
          </p:nvPr>
        </p:nvSpPr>
        <p:spPr>
          <a:xfrm>
            <a:off x="548640" y="320040"/>
            <a:ext cx="11091240" cy="8683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1" u="none" strike="noStrike">
                <a:solidFill>
                  <a:schemeClr val="dk1"/>
                </a:solidFill>
                <a:effectLst/>
                <a:uFillTx/>
                <a:latin typeface="Segoe UI Semibold"/>
              </a:rPr>
              <a:t>A free, open-source stack that runs on one small server</a:t>
            </a:r>
            <a:endParaRPr lang="en-US" sz="3000" b="0" u="none" strike="noStrike">
              <a:solidFill>
                <a:schemeClr val="dk1"/>
              </a:solidFill>
              <a:effectLst/>
              <a:uFillTx/>
              <a:latin typeface="Calibri"/>
            </a:endParaRPr>
          </a:p>
        </p:txBody>
      </p:sp>
      <p:sp>
        <p:nvSpPr>
          <p:cNvPr id="159" name="stack card 1"/>
          <p:cNvSpPr/>
          <p:nvPr/>
        </p:nvSpPr>
        <p:spPr>
          <a:xfrm>
            <a:off x="548640" y="1371600"/>
            <a:ext cx="2605680" cy="3428640"/>
          </a:xfrm>
          <a:prstGeom prst="roundRect">
            <a:avLst>
              <a:gd name="adj" fmla="val 4211"/>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0" name="Text 2"/>
          <p:cNvSpPr/>
          <p:nvPr/>
        </p:nvSpPr>
        <p:spPr>
          <a:xfrm>
            <a:off x="777240" y="1554480"/>
            <a:ext cx="219420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100" b="1" u="none" strike="noStrike">
                <a:solidFill>
                  <a:schemeClr val="accent1"/>
                </a:solidFill>
                <a:effectLst/>
                <a:uFillTx/>
                <a:latin typeface="Calibri"/>
              </a:rPr>
              <a:t>Data</a:t>
            </a:r>
            <a:endParaRPr lang="en-US" sz="2100" b="0" u="none" strike="noStrike">
              <a:solidFill>
                <a:srgbClr val="000000"/>
              </a:solidFill>
              <a:effectLst/>
              <a:uFillTx/>
              <a:latin typeface="Arial"/>
            </a:endParaRPr>
          </a:p>
        </p:txBody>
      </p:sp>
      <p:sp>
        <p:nvSpPr>
          <p:cNvPr id="161" name="Text 3"/>
          <p:cNvSpPr/>
          <p:nvPr/>
        </p:nvSpPr>
        <p:spPr>
          <a:xfrm>
            <a:off x="777240" y="2103120"/>
            <a:ext cx="2239920" cy="255996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Python 3.12</a:t>
            </a:r>
            <a:endParaRPr lang="en-US" sz="1700" b="0" u="none" strike="noStrike">
              <a:solidFill>
                <a:srgbClr val="000000"/>
              </a:solidFill>
              <a:effectLst/>
              <a:uFillTx/>
              <a:latin typeface="Arial"/>
            </a:endParaRPr>
          </a:p>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aiohttp (async)</a:t>
            </a:r>
            <a:endParaRPr lang="en-US" sz="1700" b="0" u="none" strike="noStrike">
              <a:solidFill>
                <a:srgbClr val="000000"/>
              </a:solidFill>
              <a:effectLst/>
              <a:uFillTx/>
              <a:latin typeface="Arial"/>
            </a:endParaRPr>
          </a:p>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Parquet</a:t>
            </a:r>
            <a:endParaRPr lang="en-US" sz="1700" b="0" u="none" strike="noStrike">
              <a:solidFill>
                <a:srgbClr val="000000"/>
              </a:solidFill>
              <a:effectLst/>
              <a:uFillTx/>
              <a:latin typeface="Arial"/>
            </a:endParaRPr>
          </a:p>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DuckDB</a:t>
            </a:r>
            <a:endParaRPr lang="en-US" sz="1700" b="0" u="none" strike="noStrike">
              <a:solidFill>
                <a:srgbClr val="000000"/>
              </a:solidFill>
              <a:effectLst/>
              <a:uFillTx/>
              <a:latin typeface="Arial"/>
            </a:endParaRPr>
          </a:p>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dbt</a:t>
            </a:r>
            <a:endParaRPr lang="en-US" sz="1700" b="0" u="none" strike="noStrike">
              <a:solidFill>
                <a:srgbClr val="000000"/>
              </a:solidFill>
              <a:effectLst/>
              <a:uFillTx/>
              <a:latin typeface="Arial"/>
            </a:endParaRPr>
          </a:p>
        </p:txBody>
      </p:sp>
      <p:sp>
        <p:nvSpPr>
          <p:cNvPr id="162" name="stack card 2"/>
          <p:cNvSpPr/>
          <p:nvPr/>
        </p:nvSpPr>
        <p:spPr>
          <a:xfrm>
            <a:off x="3364920" y="1371600"/>
            <a:ext cx="2605680" cy="3428640"/>
          </a:xfrm>
          <a:prstGeom prst="roundRect">
            <a:avLst>
              <a:gd name="adj" fmla="val 4211"/>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3" name="Text 5"/>
          <p:cNvSpPr/>
          <p:nvPr/>
        </p:nvSpPr>
        <p:spPr>
          <a:xfrm>
            <a:off x="3593520" y="1554480"/>
            <a:ext cx="219420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100" b="1" u="none" strike="noStrike">
                <a:solidFill>
                  <a:schemeClr val="accent1"/>
                </a:solidFill>
                <a:effectLst/>
                <a:uFillTx/>
                <a:latin typeface="Calibri"/>
              </a:rPr>
              <a:t>Backend</a:t>
            </a:r>
            <a:endParaRPr lang="en-US" sz="2100" b="0" u="none" strike="noStrike">
              <a:solidFill>
                <a:srgbClr val="000000"/>
              </a:solidFill>
              <a:effectLst/>
              <a:uFillTx/>
              <a:latin typeface="Arial"/>
            </a:endParaRPr>
          </a:p>
        </p:txBody>
      </p:sp>
      <p:sp>
        <p:nvSpPr>
          <p:cNvPr id="164" name="Text 6"/>
          <p:cNvSpPr/>
          <p:nvPr/>
        </p:nvSpPr>
        <p:spPr>
          <a:xfrm>
            <a:off x="3593520" y="2103120"/>
            <a:ext cx="2239920" cy="255996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FastAPI</a:t>
            </a:r>
            <a:endParaRPr lang="en-US" sz="1700" b="0" u="none" strike="noStrike">
              <a:solidFill>
                <a:srgbClr val="000000"/>
              </a:solidFill>
              <a:effectLst/>
              <a:uFillTx/>
              <a:latin typeface="Arial"/>
            </a:endParaRPr>
          </a:p>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Pydantic</a:t>
            </a:r>
            <a:endParaRPr lang="en-US" sz="1700" b="0" u="none" strike="noStrike">
              <a:solidFill>
                <a:srgbClr val="000000"/>
              </a:solidFill>
              <a:effectLst/>
              <a:uFillTx/>
              <a:latin typeface="Arial"/>
            </a:endParaRPr>
          </a:p>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Uvicorn</a:t>
            </a:r>
            <a:endParaRPr lang="en-US" sz="1700" b="0" u="none" strike="noStrike">
              <a:solidFill>
                <a:srgbClr val="000000"/>
              </a:solidFill>
              <a:effectLst/>
              <a:uFillTx/>
              <a:latin typeface="Arial"/>
            </a:endParaRPr>
          </a:p>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Typer CLI</a:t>
            </a:r>
            <a:endParaRPr lang="en-US" sz="1700" b="0" u="none" strike="noStrike">
              <a:solidFill>
                <a:srgbClr val="000000"/>
              </a:solidFill>
              <a:effectLst/>
              <a:uFillTx/>
              <a:latin typeface="Arial"/>
            </a:endParaRPr>
          </a:p>
        </p:txBody>
      </p:sp>
      <p:sp>
        <p:nvSpPr>
          <p:cNvPr id="165" name="stack card 3"/>
          <p:cNvSpPr/>
          <p:nvPr/>
        </p:nvSpPr>
        <p:spPr>
          <a:xfrm>
            <a:off x="6181200" y="1371600"/>
            <a:ext cx="2605680" cy="3428640"/>
          </a:xfrm>
          <a:prstGeom prst="roundRect">
            <a:avLst>
              <a:gd name="adj" fmla="val 4211"/>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6" name="Text 8"/>
          <p:cNvSpPr/>
          <p:nvPr/>
        </p:nvSpPr>
        <p:spPr>
          <a:xfrm>
            <a:off x="6409800" y="1554480"/>
            <a:ext cx="219420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100" b="1" u="none" strike="noStrike">
                <a:solidFill>
                  <a:schemeClr val="accent1"/>
                </a:solidFill>
                <a:effectLst/>
                <a:uFillTx/>
                <a:latin typeface="Calibri"/>
              </a:rPr>
              <a:t>Frontend</a:t>
            </a:r>
            <a:endParaRPr lang="en-US" sz="2100" b="0" u="none" strike="noStrike">
              <a:solidFill>
                <a:srgbClr val="000000"/>
              </a:solidFill>
              <a:effectLst/>
              <a:uFillTx/>
              <a:latin typeface="Arial"/>
            </a:endParaRPr>
          </a:p>
        </p:txBody>
      </p:sp>
      <p:sp>
        <p:nvSpPr>
          <p:cNvPr id="167" name="Text 9"/>
          <p:cNvSpPr/>
          <p:nvPr/>
        </p:nvSpPr>
        <p:spPr>
          <a:xfrm>
            <a:off x="6409800" y="2103120"/>
            <a:ext cx="2239920" cy="255996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HTML, CSS, JavaScript</a:t>
            </a:r>
            <a:endParaRPr lang="en-US" sz="1700" b="0" u="none" strike="noStrike">
              <a:solidFill>
                <a:srgbClr val="000000"/>
              </a:solidFill>
              <a:effectLst/>
              <a:uFillTx/>
              <a:latin typeface="Arial"/>
            </a:endParaRPr>
          </a:p>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Leaflet + CARTO</a:t>
            </a:r>
            <a:endParaRPr lang="en-US" sz="1700" b="0" u="none" strike="noStrike">
              <a:solidFill>
                <a:srgbClr val="000000"/>
              </a:solidFill>
              <a:effectLst/>
              <a:uFillTx/>
              <a:latin typeface="Arial"/>
            </a:endParaRPr>
          </a:p>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Chart.js</a:t>
            </a:r>
            <a:endParaRPr lang="en-US" sz="1700" b="0" u="none" strike="noStrike">
              <a:solidFill>
                <a:srgbClr val="000000"/>
              </a:solidFill>
              <a:effectLst/>
              <a:uFillTx/>
              <a:latin typeface="Arial"/>
            </a:endParaRPr>
          </a:p>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PWA (service worker)</a:t>
            </a:r>
            <a:endParaRPr lang="en-US" sz="1700" b="0" u="none" strike="noStrike">
              <a:solidFill>
                <a:srgbClr val="000000"/>
              </a:solidFill>
              <a:effectLst/>
              <a:uFillTx/>
              <a:latin typeface="Arial"/>
            </a:endParaRPr>
          </a:p>
        </p:txBody>
      </p:sp>
      <p:sp>
        <p:nvSpPr>
          <p:cNvPr id="168" name="stack card 4"/>
          <p:cNvSpPr/>
          <p:nvPr/>
        </p:nvSpPr>
        <p:spPr>
          <a:xfrm>
            <a:off x="8997840" y="1371600"/>
            <a:ext cx="2605680" cy="3428640"/>
          </a:xfrm>
          <a:prstGeom prst="roundRect">
            <a:avLst>
              <a:gd name="adj" fmla="val 4211"/>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69" name="Text 11"/>
          <p:cNvSpPr/>
          <p:nvPr/>
        </p:nvSpPr>
        <p:spPr>
          <a:xfrm>
            <a:off x="9226440" y="1554480"/>
            <a:ext cx="219420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100" b="1" u="none" strike="noStrike">
                <a:solidFill>
                  <a:schemeClr val="accent1"/>
                </a:solidFill>
                <a:effectLst/>
                <a:uFillTx/>
                <a:latin typeface="Calibri"/>
              </a:rPr>
              <a:t>DevOps &amp; testing</a:t>
            </a:r>
            <a:endParaRPr lang="en-US" sz="2100" b="0" u="none" strike="noStrike">
              <a:solidFill>
                <a:srgbClr val="000000"/>
              </a:solidFill>
              <a:effectLst/>
              <a:uFillTx/>
              <a:latin typeface="Arial"/>
            </a:endParaRPr>
          </a:p>
        </p:txBody>
      </p:sp>
      <p:sp>
        <p:nvSpPr>
          <p:cNvPr id="170" name="Text 12"/>
          <p:cNvSpPr/>
          <p:nvPr/>
        </p:nvSpPr>
        <p:spPr>
          <a:xfrm>
            <a:off x="9226440" y="2103120"/>
            <a:ext cx="2239920" cy="255996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GitHub Actions</a:t>
            </a:r>
            <a:endParaRPr lang="en-US" sz="1700" b="0" u="none" strike="noStrike">
              <a:solidFill>
                <a:srgbClr val="000000"/>
              </a:solidFill>
              <a:effectLst/>
              <a:uFillTx/>
              <a:latin typeface="Arial"/>
            </a:endParaRPr>
          </a:p>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Docker</a:t>
            </a:r>
            <a:endParaRPr lang="en-US" sz="1700" b="0" u="none" strike="noStrike">
              <a:solidFill>
                <a:srgbClr val="000000"/>
              </a:solidFill>
              <a:effectLst/>
              <a:uFillTx/>
              <a:latin typeface="Arial"/>
            </a:endParaRPr>
          </a:p>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pytest</a:t>
            </a:r>
            <a:endParaRPr lang="en-US" sz="1700" b="0" u="none" strike="noStrike">
              <a:solidFill>
                <a:srgbClr val="000000"/>
              </a:solidFill>
              <a:effectLst/>
              <a:uFillTx/>
              <a:latin typeface="Arial"/>
            </a:endParaRPr>
          </a:p>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Playwright</a:t>
            </a:r>
            <a:endParaRPr lang="en-US" sz="1700" b="0" u="none" strike="noStrike">
              <a:solidFill>
                <a:srgbClr val="000000"/>
              </a:solidFill>
              <a:effectLst/>
              <a:uFillTx/>
              <a:latin typeface="Arial"/>
            </a:endParaRPr>
          </a:p>
          <a:p>
            <a:pPr marL="343080" indent="-343080" defTabSz="914400">
              <a:lnSpc>
                <a:spcPct val="100000"/>
              </a:lnSpc>
              <a:spcAft>
                <a:spcPts val="601"/>
              </a:spcAft>
              <a:buClr>
                <a:srgbClr val="212121"/>
              </a:buClr>
              <a:buFont typeface="Symbol" charset="2"/>
              <a:buChar char=""/>
            </a:pPr>
            <a:r>
              <a:rPr lang="en-US" sz="1700" b="0" u="none" strike="noStrike">
                <a:solidFill>
                  <a:schemeClr val="dk1"/>
                </a:solidFill>
                <a:effectLst/>
                <a:uFillTx/>
                <a:latin typeface="Calibri"/>
              </a:rPr>
              <a:t>ruff</a:t>
            </a:r>
            <a:endParaRPr lang="en-US" sz="1700" b="0" u="none" strike="noStrike">
              <a:solidFill>
                <a:srgbClr val="000000"/>
              </a:solidFill>
              <a:effectLst/>
              <a:uFillTx/>
              <a:latin typeface="Arial"/>
            </a:endParaRPr>
          </a:p>
        </p:txBody>
      </p:sp>
      <p:sp>
        <p:nvSpPr>
          <p:cNvPr id="171" name="Text 13"/>
          <p:cNvSpPr/>
          <p:nvPr/>
        </p:nvSpPr>
        <p:spPr>
          <a:xfrm>
            <a:off x="548640" y="5074920"/>
            <a:ext cx="1109124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chemeClr val="dk1"/>
                </a:solidFill>
                <a:effectLst/>
                <a:uFillTx/>
                <a:latin typeface="Calibri"/>
              </a:rPr>
              <a:t>DuckDB: </a:t>
            </a:r>
            <a:r>
              <a:rPr lang="en-US" sz="1700" b="0" u="none" strike="noStrike">
                <a:solidFill>
                  <a:schemeClr val="dk1"/>
                </a:solidFill>
                <a:effectLst/>
                <a:uFillTx/>
                <a:latin typeface="Calibri"/>
              </a:rPr>
              <a:t>fast analytics in a single file, no database server.   </a:t>
            </a:r>
            <a:r>
              <a:rPr lang="en-US" sz="1700" b="1" u="none" strike="noStrike">
                <a:solidFill>
                  <a:schemeClr val="dk1"/>
                </a:solidFill>
                <a:effectLst/>
                <a:uFillTx/>
                <a:latin typeface="Calibri"/>
              </a:rPr>
              <a:t>dbt: </a:t>
            </a:r>
            <a:r>
              <a:rPr lang="en-US" sz="1700" b="0" u="none" strike="noStrike">
                <a:solidFill>
                  <a:schemeClr val="dk1"/>
                </a:solidFill>
                <a:effectLst/>
                <a:uFillTx/>
                <a:latin typeface="Calibri"/>
              </a:rPr>
              <a:t>readable SQL with built-in tests.   </a:t>
            </a:r>
            <a:r>
              <a:rPr lang="en-US" sz="1700" b="1" u="none" strike="noStrike">
                <a:solidFill>
                  <a:schemeClr val="dk1"/>
                </a:solidFill>
                <a:effectLst/>
                <a:uFillTx/>
                <a:latin typeface="Calibri"/>
              </a:rPr>
              <a:t>FastAPI: </a:t>
            </a:r>
            <a:r>
              <a:rPr lang="en-US" sz="1700" b="0" u="none" strike="noStrike">
                <a:solidFill>
                  <a:schemeClr val="dk1"/>
                </a:solidFill>
                <a:effectLst/>
                <a:uFillTx/>
                <a:latin typeface="Calibri"/>
              </a:rPr>
              <a:t>validation and API docs for free.</a:t>
            </a:r>
            <a:endParaRPr lang="en-US" sz="1700" b="0" u="none" strike="noStrike">
              <a:solidFill>
                <a:srgbClr val="000000"/>
              </a:solidFill>
              <a:effectLst/>
              <a:uFillTx/>
              <a:latin typeface="Arial"/>
            </a:endParaRPr>
          </a:p>
        </p:txBody>
      </p:sp>
      <p:sp>
        <p:nvSpPr>
          <p:cNvPr id="172" name="PlaceHolder 2"/>
          <p:cNvSpPr>
            <a:spLocks noGrp="1"/>
          </p:cNvSpPr>
          <p:nvPr>
            <p:ph type="sldNum" idx="13"/>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9565275B-A71A-4E3E-A658-C2C1861DC549}"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hasCustomPrompt="1"/>
          </p:nvPr>
        </p:nvSpPr>
        <p:spPr>
          <a:xfrm>
            <a:off x="548640" y="320040"/>
            <a:ext cx="11091240" cy="8683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1" u="none" strike="noStrike">
                <a:solidFill>
                  <a:schemeClr val="dk1"/>
                </a:solidFill>
                <a:effectLst/>
                <a:uFillTx/>
                <a:latin typeface="Segoe UI Semibold"/>
              </a:rPr>
              <a:t>Every number is checked; every bank gets a trust score</a:t>
            </a:r>
            <a:endParaRPr lang="en-US" sz="3000" b="0" u="none" strike="noStrike">
              <a:solidFill>
                <a:schemeClr val="dk1"/>
              </a:solidFill>
              <a:effectLst/>
              <a:uFillTx/>
              <a:latin typeface="Calibri"/>
            </a:endParaRPr>
          </a:p>
        </p:txBody>
      </p:sp>
      <p:pic>
        <p:nvPicPr>
          <p:cNvPr id="174" name="check icon 1" descr="preencoded.png"/>
          <p:cNvPicPr/>
          <p:nvPr/>
        </p:nvPicPr>
        <p:blipFill>
          <a:blip r:embed="rId1"/>
          <a:stretch/>
        </p:blipFill>
        <p:spPr>
          <a:xfrm>
            <a:off x="548640" y="1508760"/>
            <a:ext cx="411120" cy="411120"/>
          </a:xfrm>
          <a:prstGeom prst="rect">
            <a:avLst/>
          </a:prstGeom>
          <a:noFill/>
          <a:ln w="0">
            <a:noFill/>
          </a:ln>
        </p:spPr>
      </p:pic>
      <p:sp>
        <p:nvSpPr>
          <p:cNvPr id="175" name="Text 1"/>
          <p:cNvSpPr/>
          <p:nvPr/>
        </p:nvSpPr>
        <p:spPr>
          <a:xfrm>
            <a:off x="1143000" y="1463040"/>
            <a:ext cx="457164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100" b="1" u="none" strike="noStrike">
                <a:solidFill>
                  <a:schemeClr val="dk1"/>
                </a:solidFill>
                <a:effectLst/>
                <a:uFillTx/>
                <a:latin typeface="Calibri"/>
              </a:rPr>
              <a:t>Circuit breaker</a:t>
            </a:r>
            <a:endParaRPr lang="en-US" sz="2100" b="0" u="none" strike="noStrike">
              <a:solidFill>
                <a:srgbClr val="000000"/>
              </a:solidFill>
              <a:effectLst/>
              <a:uFillTx/>
              <a:latin typeface="Arial"/>
            </a:endParaRPr>
          </a:p>
        </p:txBody>
      </p:sp>
      <p:sp>
        <p:nvSpPr>
          <p:cNvPr id="176" name="Text 2"/>
          <p:cNvSpPr/>
          <p:nvPr/>
        </p:nvSpPr>
        <p:spPr>
          <a:xfrm>
            <a:off x="1143000" y="1865520"/>
            <a:ext cx="45716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700" b="0" u="none" strike="noStrike">
                <a:solidFill>
                  <a:schemeClr val="accent3"/>
                </a:solidFill>
                <a:effectLst/>
                <a:uFillTx/>
                <a:latin typeface="Calibri"/>
              </a:rPr>
              <a:t>Scrape stops if more than 20% of requests fail</a:t>
            </a:r>
            <a:endParaRPr lang="en-US" sz="1700" b="0" u="none" strike="noStrike">
              <a:solidFill>
                <a:srgbClr val="000000"/>
              </a:solidFill>
              <a:effectLst/>
              <a:uFillTx/>
              <a:latin typeface="Arial"/>
            </a:endParaRPr>
          </a:p>
        </p:txBody>
      </p:sp>
      <p:pic>
        <p:nvPicPr>
          <p:cNvPr id="177" name="check icon 2" descr="preencoded.png"/>
          <p:cNvPicPr/>
          <p:nvPr/>
        </p:nvPicPr>
        <p:blipFill>
          <a:blip r:embed="rId2"/>
          <a:stretch/>
        </p:blipFill>
        <p:spPr>
          <a:xfrm>
            <a:off x="548640" y="2624400"/>
            <a:ext cx="411120" cy="411120"/>
          </a:xfrm>
          <a:prstGeom prst="rect">
            <a:avLst/>
          </a:prstGeom>
          <a:noFill/>
          <a:ln w="0">
            <a:noFill/>
          </a:ln>
        </p:spPr>
      </p:pic>
      <p:sp>
        <p:nvSpPr>
          <p:cNvPr id="178" name="Text 3"/>
          <p:cNvSpPr/>
          <p:nvPr/>
        </p:nvSpPr>
        <p:spPr>
          <a:xfrm>
            <a:off x="1143000" y="2578680"/>
            <a:ext cx="457164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100" b="1" u="none" strike="noStrike">
                <a:solidFill>
                  <a:schemeClr val="dk1"/>
                </a:solidFill>
                <a:effectLst/>
                <a:uFillTx/>
                <a:latin typeface="Calibri"/>
              </a:rPr>
              <a:t>37 dbt data tests</a:t>
            </a:r>
            <a:endParaRPr lang="en-US" sz="2100" b="0" u="none" strike="noStrike">
              <a:solidFill>
                <a:srgbClr val="000000"/>
              </a:solidFill>
              <a:effectLst/>
              <a:uFillTx/>
              <a:latin typeface="Arial"/>
            </a:endParaRPr>
          </a:p>
        </p:txBody>
      </p:sp>
      <p:sp>
        <p:nvSpPr>
          <p:cNvPr id="179" name="Text 4"/>
          <p:cNvSpPr/>
          <p:nvPr/>
        </p:nvSpPr>
        <p:spPr>
          <a:xfrm>
            <a:off x="1143000" y="2980800"/>
            <a:ext cx="45716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700" b="0" u="none" strike="noStrike">
                <a:solidFill>
                  <a:schemeClr val="accent3"/>
                </a:solidFill>
                <a:effectLst/>
                <a:uFillTx/>
                <a:latin typeface="Calibri"/>
              </a:rPr>
              <a:t>No missing keys, no duplicates, valid blood groups</a:t>
            </a:r>
            <a:endParaRPr lang="en-US" sz="1700" b="0" u="none" strike="noStrike">
              <a:solidFill>
                <a:srgbClr val="000000"/>
              </a:solidFill>
              <a:effectLst/>
              <a:uFillTx/>
              <a:latin typeface="Arial"/>
            </a:endParaRPr>
          </a:p>
        </p:txBody>
      </p:sp>
      <p:pic>
        <p:nvPicPr>
          <p:cNvPr id="180" name="check icon 3" descr="preencoded.png"/>
          <p:cNvPicPr/>
          <p:nvPr/>
        </p:nvPicPr>
        <p:blipFill>
          <a:blip r:embed="rId3"/>
          <a:stretch/>
        </p:blipFill>
        <p:spPr>
          <a:xfrm>
            <a:off x="548640" y="3740040"/>
            <a:ext cx="411120" cy="411120"/>
          </a:xfrm>
          <a:prstGeom prst="rect">
            <a:avLst/>
          </a:prstGeom>
          <a:noFill/>
          <a:ln w="0">
            <a:noFill/>
          </a:ln>
        </p:spPr>
      </p:pic>
      <p:sp>
        <p:nvSpPr>
          <p:cNvPr id="181" name="Text 5"/>
          <p:cNvSpPr/>
          <p:nvPr/>
        </p:nvSpPr>
        <p:spPr>
          <a:xfrm>
            <a:off x="1143000" y="3694320"/>
            <a:ext cx="457164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100" b="1" u="none" strike="noStrike">
                <a:solidFill>
                  <a:schemeClr val="dk1"/>
                </a:solidFill>
                <a:effectLst/>
                <a:uFillTx/>
                <a:latin typeface="Calibri"/>
              </a:rPr>
              <a:t>Anomaly gate</a:t>
            </a:r>
            <a:endParaRPr lang="en-US" sz="2100" b="0" u="none" strike="noStrike">
              <a:solidFill>
                <a:srgbClr val="000000"/>
              </a:solidFill>
              <a:effectLst/>
              <a:uFillTx/>
              <a:latin typeface="Arial"/>
            </a:endParaRPr>
          </a:p>
        </p:txBody>
      </p:sp>
      <p:sp>
        <p:nvSpPr>
          <p:cNvPr id="182" name="Text 6"/>
          <p:cNvSpPr/>
          <p:nvPr/>
        </p:nvSpPr>
        <p:spPr>
          <a:xfrm>
            <a:off x="1143000" y="4096440"/>
            <a:ext cx="45716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700" b="0" u="none" strike="noStrike">
                <a:solidFill>
                  <a:schemeClr val="accent3"/>
                </a:solidFill>
                <a:effectLst/>
                <a:uFillTx/>
                <a:latin typeface="Calibri"/>
              </a:rPr>
              <a:t>Publish blocked if banks fall below 80% of last run</a:t>
            </a:r>
            <a:endParaRPr lang="en-US" sz="1700" b="0" u="none" strike="noStrike">
              <a:solidFill>
                <a:srgbClr val="000000"/>
              </a:solidFill>
              <a:effectLst/>
              <a:uFillTx/>
              <a:latin typeface="Arial"/>
            </a:endParaRPr>
          </a:p>
        </p:txBody>
      </p:sp>
      <p:pic>
        <p:nvPicPr>
          <p:cNvPr id="183" name="check icon 4" descr="preencoded.png"/>
          <p:cNvPicPr/>
          <p:nvPr/>
        </p:nvPicPr>
        <p:blipFill>
          <a:blip r:embed="rId4"/>
          <a:stretch/>
        </p:blipFill>
        <p:spPr>
          <a:xfrm>
            <a:off x="548640" y="4855320"/>
            <a:ext cx="411120" cy="411120"/>
          </a:xfrm>
          <a:prstGeom prst="rect">
            <a:avLst/>
          </a:prstGeom>
          <a:noFill/>
          <a:ln w="0">
            <a:noFill/>
          </a:ln>
        </p:spPr>
      </p:pic>
      <p:sp>
        <p:nvSpPr>
          <p:cNvPr id="184" name="Text 7"/>
          <p:cNvSpPr/>
          <p:nvPr/>
        </p:nvSpPr>
        <p:spPr>
          <a:xfrm>
            <a:off x="1143000" y="4809600"/>
            <a:ext cx="457164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100" b="1" u="none" strike="noStrike">
                <a:solidFill>
                  <a:schemeClr val="dk1"/>
                </a:solidFill>
                <a:effectLst/>
                <a:uFillTx/>
                <a:latin typeface="Calibri"/>
              </a:rPr>
              <a:t>Freshness shown</a:t>
            </a:r>
            <a:endParaRPr lang="en-US" sz="2100" b="0" u="none" strike="noStrike">
              <a:solidFill>
                <a:srgbClr val="000000"/>
              </a:solidFill>
              <a:effectLst/>
              <a:uFillTx/>
              <a:latin typeface="Arial"/>
            </a:endParaRPr>
          </a:p>
        </p:txBody>
      </p:sp>
      <p:sp>
        <p:nvSpPr>
          <p:cNvPr id="185" name="Text 8"/>
          <p:cNvSpPr/>
          <p:nvPr/>
        </p:nvSpPr>
        <p:spPr>
          <a:xfrm>
            <a:off x="1143000" y="5212080"/>
            <a:ext cx="45716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700" b="0" u="none" strike="noStrike">
                <a:solidFill>
                  <a:schemeClr val="accent3"/>
                </a:solidFill>
                <a:effectLst/>
                <a:uFillTx/>
                <a:latin typeface="Calibri"/>
              </a:rPr>
              <a:t>Every card says when the bank last updated</a:t>
            </a:r>
            <a:endParaRPr lang="en-US" sz="1700" b="0" u="none" strike="noStrike">
              <a:solidFill>
                <a:srgbClr val="000000"/>
              </a:solidFill>
              <a:effectLst/>
              <a:uFillTx/>
              <a:latin typeface="Arial"/>
            </a:endParaRPr>
          </a:p>
        </p:txBody>
      </p:sp>
      <p:sp>
        <p:nvSpPr>
          <p:cNvPr id="186" name="trust card"/>
          <p:cNvSpPr/>
          <p:nvPr/>
        </p:nvSpPr>
        <p:spPr>
          <a:xfrm>
            <a:off x="6172200" y="1417320"/>
            <a:ext cx="5467680" cy="4205880"/>
          </a:xfrm>
          <a:prstGeom prst="roundRect">
            <a:avLst>
              <a:gd name="adj" fmla="val 2609"/>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87" name="Text 10"/>
          <p:cNvSpPr/>
          <p:nvPr/>
        </p:nvSpPr>
        <p:spPr>
          <a:xfrm>
            <a:off x="6446520" y="1600200"/>
            <a:ext cx="493740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100" b="1" u="none" strike="noStrike">
                <a:solidFill>
                  <a:schemeClr val="accent1"/>
                </a:solidFill>
                <a:effectLst/>
                <a:uFillTx/>
                <a:latin typeface="Calibri"/>
              </a:rPr>
              <a:t>Trust score, worked example</a:t>
            </a:r>
            <a:endParaRPr lang="en-US" sz="2100" b="0" u="none" strike="noStrike">
              <a:solidFill>
                <a:srgbClr val="000000"/>
              </a:solidFill>
              <a:effectLst/>
              <a:uFillTx/>
              <a:latin typeface="Arial"/>
            </a:endParaRPr>
          </a:p>
        </p:txBody>
      </p:sp>
      <p:graphicFrame>
        <p:nvGraphicFramePr>
          <p:cNvPr id="188" name="Table 0"/>
          <p:cNvGraphicFramePr/>
          <p:nvPr/>
        </p:nvGraphicFramePr>
        <p:xfrm>
          <a:off x="6446520" y="2148840"/>
          <a:ext cx="4937400" cy="2514600"/>
        </p:xfrm>
        <a:graphic>
          <a:graphicData uri="http://schemas.openxmlformats.org/drawingml/2006/table">
            <a:tbl>
              <a:tblPr/>
              <a:tblGrid>
                <a:gridCol w="1463040"/>
                <a:gridCol w="2194560"/>
                <a:gridCol w="1280160"/>
              </a:tblGrid>
              <a:tr h="502920">
                <a:tc>
                  <a:txBody>
                    <a:bodyPr anchor="ctr">
                      <a:noAutofit/>
                    </a:bodyPr>
                    <a:p>
                      <a:pPr defTabSz="914400">
                        <a:lnSpc>
                          <a:spcPct val="100000"/>
                        </a:lnSpc>
                        <a:tabLst>
                          <a:tab pos="0" algn="l"/>
                        </a:tabLst>
                      </a:pPr>
                      <a:r>
                        <a:rPr lang="en-US" sz="1700" b="1" u="none" strike="noStrike">
                          <a:solidFill>
                            <a:schemeClr val="lt1"/>
                          </a:solidFill>
                          <a:effectLst/>
                          <a:uFillTx/>
                          <a:latin typeface="Calibri"/>
                        </a:rPr>
                        <a:t>Part</a:t>
                      </a:r>
                      <a:endParaRPr lang="en-US" sz="1700" b="0" u="none" strike="noStrike">
                        <a:solidFill>
                          <a:srgbClr val="FFFFFF"/>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accent1"/>
                    </a:solidFill>
                  </a:tcPr>
                </a:tc>
                <a:tc>
                  <a:txBody>
                    <a:bodyPr anchor="ctr">
                      <a:noAutofit/>
                    </a:bodyPr>
                    <a:p>
                      <a:pPr defTabSz="914400">
                        <a:lnSpc>
                          <a:spcPct val="100000"/>
                        </a:lnSpc>
                        <a:tabLst>
                          <a:tab pos="0" algn="l"/>
                        </a:tabLst>
                      </a:pPr>
                      <a:r>
                        <a:rPr lang="en-US" sz="1700" b="1" u="none" strike="noStrike">
                          <a:solidFill>
                            <a:schemeClr val="lt1"/>
                          </a:solidFill>
                          <a:effectLst/>
                          <a:uFillTx/>
                          <a:latin typeface="Calibri"/>
                        </a:rPr>
                        <a:t>Rule</a:t>
                      </a:r>
                      <a:endParaRPr lang="en-US" sz="1700" b="0" u="none" strike="noStrike">
                        <a:solidFill>
                          <a:srgbClr val="FFFFFF"/>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accent1"/>
                    </a:solidFill>
                  </a:tcPr>
                </a:tc>
                <a:tc>
                  <a:txBody>
                    <a:bodyPr anchor="ctr">
                      <a:noAutofit/>
                    </a:bodyPr>
                    <a:p>
                      <a:pPr defTabSz="914400">
                        <a:lnSpc>
                          <a:spcPct val="100000"/>
                        </a:lnSpc>
                        <a:tabLst>
                          <a:tab pos="0" algn="l"/>
                        </a:tabLst>
                      </a:pPr>
                      <a:r>
                        <a:rPr lang="en-US" sz="1700" b="1" u="none" strike="noStrike">
                          <a:solidFill>
                            <a:schemeClr val="lt1"/>
                          </a:solidFill>
                          <a:effectLst/>
                          <a:uFillTx/>
                          <a:latin typeface="Calibri"/>
                        </a:rPr>
                        <a:t>Points</a:t>
                      </a:r>
                      <a:endParaRPr lang="en-US" sz="1700" b="0" u="none" strike="noStrike">
                        <a:solidFill>
                          <a:srgbClr val="FFFFFF"/>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accent1"/>
                    </a:solidFill>
                  </a:tcPr>
                </a:tc>
              </a:tr>
              <a:tr h="502920">
                <a:tc>
                  <a:txBody>
                    <a:bodyPr anchor="ctr">
                      <a:noAutofit/>
                    </a:bodyPr>
                    <a:p>
                      <a:pPr defTabSz="914400">
                        <a:lnSpc>
                          <a:spcPct val="100000"/>
                        </a:lnSpc>
                        <a:tabLst>
                          <a:tab pos="0" algn="l"/>
                        </a:tabLst>
                      </a:pPr>
                      <a:r>
                        <a:rPr lang="en-US" sz="1700" b="0" u="none" strike="noStrike">
                          <a:solidFill>
                            <a:schemeClr val="dk1"/>
                          </a:solidFill>
                          <a:effectLst/>
                          <a:uFillTx/>
                          <a:latin typeface="Calibri"/>
                        </a:rPr>
                        <a:t>Freshness</a:t>
                      </a:r>
                      <a:endParaRPr lang="en-US" sz="17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c>
                  <a:txBody>
                    <a:bodyPr anchor="ctr">
                      <a:noAutofit/>
                    </a:bodyPr>
                    <a:p>
                      <a:pPr defTabSz="914400">
                        <a:lnSpc>
                          <a:spcPct val="100000"/>
                        </a:lnSpc>
                        <a:tabLst>
                          <a:tab pos="0" algn="l"/>
                        </a:tabLst>
                      </a:pPr>
                      <a:r>
                        <a:rPr lang="en-US" sz="1700" b="0" u="none" strike="noStrike">
                          <a:solidFill>
                            <a:schemeClr val="dk1"/>
                          </a:solidFill>
                          <a:effectLst/>
                          <a:uFillTx/>
                          <a:latin typeface="Calibri"/>
                        </a:rPr>
                        <a:t>Updated 2 days ago</a:t>
                      </a:r>
                      <a:endParaRPr lang="en-US" sz="17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c>
                  <a:txBody>
                    <a:bodyPr anchor="ctr">
                      <a:noAutofit/>
                    </a:bodyPr>
                    <a:p>
                      <a:pPr defTabSz="914400">
                        <a:lnSpc>
                          <a:spcPct val="100000"/>
                        </a:lnSpc>
                        <a:tabLst>
                          <a:tab pos="0" algn="l"/>
                        </a:tabLst>
                      </a:pPr>
                      <a:r>
                        <a:rPr lang="en-US" sz="1700" b="0" u="none" strike="noStrike">
                          <a:solidFill>
                            <a:schemeClr val="dk1"/>
                          </a:solidFill>
                          <a:effectLst/>
                          <a:uFillTx/>
                          <a:latin typeface="Calibri"/>
                        </a:rPr>
                        <a:t>35 / 50</a:t>
                      </a:r>
                      <a:endParaRPr lang="en-US" sz="17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r>
              <a:tr h="502920">
                <a:tc>
                  <a:txBody>
                    <a:bodyPr anchor="ctr">
                      <a:noAutofit/>
                    </a:bodyPr>
                    <a:p>
                      <a:pPr defTabSz="914400">
                        <a:lnSpc>
                          <a:spcPct val="100000"/>
                        </a:lnSpc>
                        <a:tabLst>
                          <a:tab pos="0" algn="l"/>
                        </a:tabLst>
                      </a:pPr>
                      <a:r>
                        <a:rPr lang="en-US" sz="1700" b="0" u="none" strike="noStrike">
                          <a:solidFill>
                            <a:schemeClr val="dk1"/>
                          </a:solidFill>
                          <a:effectLst/>
                          <a:uFillTx/>
                          <a:latin typeface="Calibri"/>
                        </a:rPr>
                        <a:t>Valid phone</a:t>
                      </a:r>
                      <a:endParaRPr lang="en-US" sz="17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c>
                  <a:txBody>
                    <a:bodyPr anchor="ctr">
                      <a:noAutofit/>
                    </a:bodyPr>
                    <a:p>
                      <a:pPr defTabSz="914400">
                        <a:lnSpc>
                          <a:spcPct val="100000"/>
                        </a:lnSpc>
                        <a:tabLst>
                          <a:tab pos="0" algn="l"/>
                        </a:tabLst>
                      </a:pPr>
                      <a:r>
                        <a:rPr lang="en-US" sz="1700" b="0" u="none" strike="noStrike">
                          <a:solidFill>
                            <a:schemeClr val="dk1"/>
                          </a:solidFill>
                          <a:effectLst/>
                          <a:uFillTx/>
                          <a:latin typeface="Calibri"/>
                        </a:rPr>
                        <a:t>8 or more digits</a:t>
                      </a:r>
                      <a:endParaRPr lang="en-US" sz="17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c>
                  <a:txBody>
                    <a:bodyPr anchor="ctr">
                      <a:noAutofit/>
                    </a:bodyPr>
                    <a:p>
                      <a:pPr defTabSz="914400">
                        <a:lnSpc>
                          <a:spcPct val="100000"/>
                        </a:lnSpc>
                        <a:tabLst>
                          <a:tab pos="0" algn="l"/>
                        </a:tabLst>
                      </a:pPr>
                      <a:r>
                        <a:rPr lang="en-US" sz="1700" b="0" u="none" strike="noStrike">
                          <a:solidFill>
                            <a:schemeClr val="dk1"/>
                          </a:solidFill>
                          <a:effectLst/>
                          <a:uFillTx/>
                          <a:latin typeface="Calibri"/>
                        </a:rPr>
                        <a:t>25 / 25</a:t>
                      </a:r>
                      <a:endParaRPr lang="en-US" sz="17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r>
              <a:tr h="502920">
                <a:tc>
                  <a:txBody>
                    <a:bodyPr anchor="ctr">
                      <a:noAutofit/>
                    </a:bodyPr>
                    <a:p>
                      <a:pPr defTabSz="914400">
                        <a:lnSpc>
                          <a:spcPct val="100000"/>
                        </a:lnSpc>
                        <a:tabLst>
                          <a:tab pos="0" algn="l"/>
                        </a:tabLst>
                      </a:pPr>
                      <a:r>
                        <a:rPr lang="en-US" sz="1700" b="0" u="none" strike="noStrike">
                          <a:solidFill>
                            <a:schemeClr val="dk1"/>
                          </a:solidFill>
                          <a:effectLst/>
                          <a:uFillTx/>
                          <a:latin typeface="Calibri"/>
                        </a:rPr>
                        <a:t>Components</a:t>
                      </a:r>
                      <a:endParaRPr lang="en-US" sz="17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c>
                  <a:txBody>
                    <a:bodyPr anchor="ctr">
                      <a:noAutofit/>
                    </a:bodyPr>
                    <a:p>
                      <a:pPr defTabSz="914400">
                        <a:lnSpc>
                          <a:spcPct val="100000"/>
                        </a:lnSpc>
                        <a:tabLst>
                          <a:tab pos="0" algn="l"/>
                        </a:tabLst>
                      </a:pPr>
                      <a:r>
                        <a:rPr lang="en-US" sz="1700" b="0" u="none" strike="noStrike">
                          <a:solidFill>
                            <a:schemeClr val="dk1"/>
                          </a:solidFill>
                          <a:effectLst/>
                          <a:uFillTx/>
                          <a:latin typeface="Calibri"/>
                        </a:rPr>
                        <a:t>4 types reported</a:t>
                      </a:r>
                      <a:endParaRPr lang="en-US" sz="17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c>
                  <a:txBody>
                    <a:bodyPr anchor="ctr">
                      <a:noAutofit/>
                    </a:bodyPr>
                    <a:p>
                      <a:pPr defTabSz="914400">
                        <a:lnSpc>
                          <a:spcPct val="100000"/>
                        </a:lnSpc>
                        <a:tabLst>
                          <a:tab pos="0" algn="l"/>
                        </a:tabLst>
                      </a:pPr>
                      <a:r>
                        <a:rPr lang="en-US" sz="1700" b="0" u="none" strike="noStrike">
                          <a:solidFill>
                            <a:schemeClr val="dk1"/>
                          </a:solidFill>
                          <a:effectLst/>
                          <a:uFillTx/>
                          <a:latin typeface="Calibri"/>
                        </a:rPr>
                        <a:t>25 / 25</a:t>
                      </a:r>
                      <a:endParaRPr lang="en-US" sz="17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r>
              <a:tr h="502920">
                <a:tc>
                  <a:txBody>
                    <a:bodyPr anchor="ctr">
                      <a:noAutofit/>
                    </a:bodyPr>
                    <a:p>
                      <a:pPr defTabSz="914400">
                        <a:lnSpc>
                          <a:spcPct val="100000"/>
                        </a:lnSpc>
                        <a:tabLst>
                          <a:tab pos="0" algn="l"/>
                        </a:tabLst>
                      </a:pPr>
                      <a:r>
                        <a:rPr lang="en-US" sz="1700" b="1" u="none" strike="noStrike">
                          <a:solidFill>
                            <a:schemeClr val="dk1"/>
                          </a:solidFill>
                          <a:effectLst/>
                          <a:uFillTx/>
                          <a:latin typeface="Calibri"/>
                        </a:rPr>
                        <a:t>Total</a:t>
                      </a:r>
                      <a:endParaRPr lang="en-US" sz="17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accent2"/>
                    </a:solidFill>
                  </a:tcPr>
                </a:tc>
                <a:tc>
                  <a:txBody>
                    <a:bodyPr anchor="ctr">
                      <a:noAutofit/>
                    </a:bodyPr>
                    <a:p>
                      <a:pPr defTabSz="914400">
                        <a:lnSpc>
                          <a:spcPct val="100000"/>
                        </a:lnSpc>
                        <a:tabLst>
                          <a:tab pos="0" algn="l"/>
                        </a:tabLst>
                      </a:pPr>
                      <a:r>
                        <a:rPr lang="en-US" sz="1700" b="1" u="none" strike="noStrike">
                          <a:solidFill>
                            <a:schemeClr val="dk1"/>
                          </a:solidFill>
                          <a:effectLst/>
                          <a:uFillTx/>
                          <a:latin typeface="Calibri"/>
                        </a:rPr>
                        <a:t>High (75 or more)</a:t>
                      </a:r>
                      <a:endParaRPr lang="en-US" sz="17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accent2"/>
                    </a:solidFill>
                  </a:tcPr>
                </a:tc>
                <a:tc>
                  <a:txBody>
                    <a:bodyPr anchor="ctr">
                      <a:noAutofit/>
                    </a:bodyPr>
                    <a:p>
                      <a:pPr defTabSz="914400">
                        <a:lnSpc>
                          <a:spcPct val="100000"/>
                        </a:lnSpc>
                        <a:tabLst>
                          <a:tab pos="0" algn="l"/>
                        </a:tabLst>
                      </a:pPr>
                      <a:r>
                        <a:rPr lang="en-US" sz="1700" b="1" u="none" strike="noStrike">
                          <a:solidFill>
                            <a:schemeClr val="dk1"/>
                          </a:solidFill>
                          <a:effectLst/>
                          <a:uFillTx/>
                          <a:latin typeface="Calibri"/>
                        </a:rPr>
                        <a:t>85 / 100</a:t>
                      </a:r>
                      <a:endParaRPr lang="en-US" sz="17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accent2"/>
                    </a:solidFill>
                  </a:tcPr>
                </a:tc>
              </a:tr>
            </a:tbl>
          </a:graphicData>
        </a:graphic>
      </p:graphicFrame>
      <p:sp>
        <p:nvSpPr>
          <p:cNvPr id="189" name="Text 11"/>
          <p:cNvSpPr/>
          <p:nvPr/>
        </p:nvSpPr>
        <p:spPr>
          <a:xfrm>
            <a:off x="6446520" y="4937760"/>
            <a:ext cx="493740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i="1" u="none" strike="noStrike">
                <a:solidFill>
                  <a:schemeClr val="accent3"/>
                </a:solidFill>
                <a:effectLst/>
                <a:uFillTx/>
                <a:latin typeface="Calibri"/>
              </a:rPr>
              <a:t>Same bank, 10 days with no update: 8 + 25 + 25 = 58 → Medium</a:t>
            </a:r>
            <a:endParaRPr lang="en-US" sz="1600" b="0" u="none" strike="noStrike">
              <a:solidFill>
                <a:srgbClr val="000000"/>
              </a:solidFill>
              <a:effectLst/>
              <a:uFillTx/>
              <a:latin typeface="Arial"/>
            </a:endParaRPr>
          </a:p>
        </p:txBody>
      </p:sp>
      <p:sp>
        <p:nvSpPr>
          <p:cNvPr id="190" name="PlaceHolder 2"/>
          <p:cNvSpPr>
            <a:spLocks noGrp="1"/>
          </p:cNvSpPr>
          <p:nvPr>
            <p:ph type="sldNum" idx="14"/>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1C4C43FF-7781-4C09-BCD7-D01E62B5F552}"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hasCustomPrompt="1"/>
          </p:nvPr>
        </p:nvSpPr>
        <p:spPr>
          <a:xfrm>
            <a:off x="548640" y="320040"/>
            <a:ext cx="11091240" cy="8683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1" u="none" strike="noStrike">
                <a:solidFill>
                  <a:schemeClr val="dk1"/>
                </a:solidFill>
                <a:effectLst/>
                <a:uFillTx/>
                <a:latin typeface="Segoe UI Semibold"/>
              </a:rPr>
              <a:t>Tested at every layer, on desktop and mobile</a:t>
            </a:r>
            <a:endParaRPr lang="en-US" sz="3000" b="0" u="none" strike="noStrike">
              <a:solidFill>
                <a:schemeClr val="dk1"/>
              </a:solidFill>
              <a:effectLst/>
              <a:uFillTx/>
              <a:latin typeface="Calibri"/>
            </a:endParaRPr>
          </a:p>
        </p:txBody>
      </p:sp>
      <p:sp>
        <p:nvSpPr>
          <p:cNvPr id="192" name="stat card 1"/>
          <p:cNvSpPr/>
          <p:nvPr/>
        </p:nvSpPr>
        <p:spPr>
          <a:xfrm>
            <a:off x="548640" y="1463040"/>
            <a:ext cx="2605680" cy="2285640"/>
          </a:xfrm>
          <a:prstGeom prst="roundRect">
            <a:avLst>
              <a:gd name="adj" fmla="val 4800"/>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93" name="Text 2"/>
          <p:cNvSpPr/>
          <p:nvPr/>
        </p:nvSpPr>
        <p:spPr>
          <a:xfrm>
            <a:off x="548640" y="1645920"/>
            <a:ext cx="2605680" cy="10512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6000" b="1" u="none" strike="noStrike">
                <a:solidFill>
                  <a:schemeClr val="accent1"/>
                </a:solidFill>
                <a:effectLst/>
                <a:uFillTx/>
                <a:latin typeface="Segoe UI Semibold"/>
                <a:ea typeface="Segoe UI Semibold"/>
              </a:rPr>
              <a:t>98</a:t>
            </a:r>
            <a:endParaRPr lang="en-US" sz="6000" b="0" u="none" strike="noStrike">
              <a:solidFill>
                <a:srgbClr val="000000"/>
              </a:solidFill>
              <a:effectLst/>
              <a:uFillTx/>
              <a:latin typeface="Arial"/>
            </a:endParaRPr>
          </a:p>
        </p:txBody>
      </p:sp>
      <p:sp>
        <p:nvSpPr>
          <p:cNvPr id="194" name="Text 3"/>
          <p:cNvSpPr/>
          <p:nvPr/>
        </p:nvSpPr>
        <p:spPr>
          <a:xfrm>
            <a:off x="731520" y="2788920"/>
            <a:ext cx="2239920" cy="7311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700" b="0" u="none" strike="noStrike">
                <a:solidFill>
                  <a:schemeClr val="accent3"/>
                </a:solidFill>
                <a:effectLst/>
                <a:uFillTx/>
                <a:latin typeface="Calibri"/>
              </a:rPr>
              <a:t>pytest unit and API tests</a:t>
            </a:r>
            <a:endParaRPr lang="en-US" sz="1700" b="0" u="none" strike="noStrike">
              <a:solidFill>
                <a:srgbClr val="000000"/>
              </a:solidFill>
              <a:effectLst/>
              <a:uFillTx/>
              <a:latin typeface="Arial"/>
            </a:endParaRPr>
          </a:p>
        </p:txBody>
      </p:sp>
      <p:sp>
        <p:nvSpPr>
          <p:cNvPr id="195" name="stat card 2"/>
          <p:cNvSpPr/>
          <p:nvPr/>
        </p:nvSpPr>
        <p:spPr>
          <a:xfrm>
            <a:off x="3364920" y="1463040"/>
            <a:ext cx="2605680" cy="2285640"/>
          </a:xfrm>
          <a:prstGeom prst="roundRect">
            <a:avLst>
              <a:gd name="adj" fmla="val 4800"/>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96" name="Text 5"/>
          <p:cNvSpPr/>
          <p:nvPr/>
        </p:nvSpPr>
        <p:spPr>
          <a:xfrm>
            <a:off x="3364920" y="1645920"/>
            <a:ext cx="2605680" cy="10512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6000" b="1" u="none" strike="noStrike">
                <a:solidFill>
                  <a:schemeClr val="accent1"/>
                </a:solidFill>
                <a:effectLst/>
                <a:uFillTx/>
                <a:latin typeface="Segoe UI Semibold"/>
                <a:ea typeface="Segoe UI Semibold"/>
              </a:rPr>
              <a:t>37</a:t>
            </a:r>
            <a:endParaRPr lang="en-US" sz="6000" b="0" u="none" strike="noStrike">
              <a:solidFill>
                <a:srgbClr val="000000"/>
              </a:solidFill>
              <a:effectLst/>
              <a:uFillTx/>
              <a:latin typeface="Arial"/>
            </a:endParaRPr>
          </a:p>
        </p:txBody>
      </p:sp>
      <p:sp>
        <p:nvSpPr>
          <p:cNvPr id="197" name="Text 6"/>
          <p:cNvSpPr/>
          <p:nvPr/>
        </p:nvSpPr>
        <p:spPr>
          <a:xfrm>
            <a:off x="3547800" y="2788920"/>
            <a:ext cx="2239920" cy="7311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700" b="0" u="none" strike="noStrike">
                <a:solidFill>
                  <a:schemeClr val="accent3"/>
                </a:solidFill>
                <a:effectLst/>
                <a:uFillTx/>
                <a:latin typeface="Calibri"/>
              </a:rPr>
              <a:t>dbt data tests</a:t>
            </a:r>
            <a:endParaRPr lang="en-US" sz="1700" b="0" u="none" strike="noStrike">
              <a:solidFill>
                <a:srgbClr val="000000"/>
              </a:solidFill>
              <a:effectLst/>
              <a:uFillTx/>
              <a:latin typeface="Arial"/>
            </a:endParaRPr>
          </a:p>
        </p:txBody>
      </p:sp>
      <p:sp>
        <p:nvSpPr>
          <p:cNvPr id="198" name="stat card 3"/>
          <p:cNvSpPr/>
          <p:nvPr/>
        </p:nvSpPr>
        <p:spPr>
          <a:xfrm>
            <a:off x="6181200" y="1463040"/>
            <a:ext cx="2605680" cy="2285640"/>
          </a:xfrm>
          <a:prstGeom prst="roundRect">
            <a:avLst>
              <a:gd name="adj" fmla="val 4800"/>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99" name="Text 8"/>
          <p:cNvSpPr/>
          <p:nvPr/>
        </p:nvSpPr>
        <p:spPr>
          <a:xfrm>
            <a:off x="6181200" y="1645920"/>
            <a:ext cx="2605680" cy="10512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6000" b="1" u="none" strike="noStrike">
                <a:solidFill>
                  <a:schemeClr val="accent1"/>
                </a:solidFill>
                <a:effectLst/>
                <a:uFillTx/>
                <a:latin typeface="Segoe UI Semibold"/>
                <a:ea typeface="Segoe UI Semibold"/>
              </a:rPr>
              <a:t>146</a:t>
            </a:r>
            <a:endParaRPr lang="en-US" sz="6000" b="0" u="none" strike="noStrike">
              <a:solidFill>
                <a:srgbClr val="000000"/>
              </a:solidFill>
              <a:effectLst/>
              <a:uFillTx/>
              <a:latin typeface="Arial"/>
            </a:endParaRPr>
          </a:p>
        </p:txBody>
      </p:sp>
      <p:sp>
        <p:nvSpPr>
          <p:cNvPr id="200" name="Text 9"/>
          <p:cNvSpPr/>
          <p:nvPr/>
        </p:nvSpPr>
        <p:spPr>
          <a:xfrm>
            <a:off x="6364080" y="2788920"/>
            <a:ext cx="2239920" cy="7311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700" b="0" u="none" strike="noStrike">
                <a:solidFill>
                  <a:schemeClr val="accent3"/>
                </a:solidFill>
                <a:effectLst/>
                <a:uFillTx/>
                <a:latin typeface="Calibri"/>
              </a:rPr>
              <a:t>Playwright browser checks</a:t>
            </a:r>
            <a:endParaRPr lang="en-US" sz="1700" b="0" u="none" strike="noStrike">
              <a:solidFill>
                <a:srgbClr val="000000"/>
              </a:solidFill>
              <a:effectLst/>
              <a:uFillTx/>
              <a:latin typeface="Arial"/>
            </a:endParaRPr>
          </a:p>
        </p:txBody>
      </p:sp>
      <p:sp>
        <p:nvSpPr>
          <p:cNvPr id="201" name="stat card 4"/>
          <p:cNvSpPr/>
          <p:nvPr/>
        </p:nvSpPr>
        <p:spPr>
          <a:xfrm>
            <a:off x="8997840" y="1463040"/>
            <a:ext cx="2605680" cy="2285640"/>
          </a:xfrm>
          <a:prstGeom prst="roundRect">
            <a:avLst>
              <a:gd name="adj" fmla="val 4800"/>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2" name="Text 11"/>
          <p:cNvSpPr/>
          <p:nvPr/>
        </p:nvSpPr>
        <p:spPr>
          <a:xfrm>
            <a:off x="8997840" y="1645920"/>
            <a:ext cx="2605680" cy="10512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6000" b="1" u="none" strike="noStrike">
                <a:solidFill>
                  <a:schemeClr val="accent1"/>
                </a:solidFill>
                <a:effectLst/>
                <a:uFillTx/>
                <a:latin typeface="Segoe UI Semibold"/>
                <a:ea typeface="Segoe UI Semibold"/>
              </a:rPr>
              <a:t>7</a:t>
            </a:r>
            <a:endParaRPr lang="en-US" sz="6000" b="0" u="none" strike="noStrike">
              <a:solidFill>
                <a:srgbClr val="000000"/>
              </a:solidFill>
              <a:effectLst/>
              <a:uFillTx/>
              <a:latin typeface="Arial"/>
            </a:endParaRPr>
          </a:p>
        </p:txBody>
      </p:sp>
      <p:sp>
        <p:nvSpPr>
          <p:cNvPr id="203" name="Text 12"/>
          <p:cNvSpPr/>
          <p:nvPr/>
        </p:nvSpPr>
        <p:spPr>
          <a:xfrm>
            <a:off x="9180720" y="2788920"/>
            <a:ext cx="2239920" cy="7311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700" b="0" u="none" strike="noStrike">
                <a:solidFill>
                  <a:schemeClr val="accent3"/>
                </a:solidFill>
                <a:effectLst/>
                <a:uFillTx/>
                <a:latin typeface="Calibri"/>
              </a:rPr>
              <a:t>screen widths, phone to desktop</a:t>
            </a:r>
            <a:endParaRPr lang="en-US" sz="1700" b="0" u="none" strike="noStrike">
              <a:solidFill>
                <a:srgbClr val="000000"/>
              </a:solidFill>
              <a:effectLst/>
              <a:uFillTx/>
              <a:latin typeface="Arial"/>
            </a:endParaRPr>
          </a:p>
        </p:txBody>
      </p:sp>
      <p:pic>
        <p:nvPicPr>
          <p:cNvPr id="204" name="result icon 1" descr="preencoded.png"/>
          <p:cNvPicPr/>
          <p:nvPr/>
        </p:nvPicPr>
        <p:blipFill>
          <a:blip r:embed="rId1"/>
          <a:stretch/>
        </p:blipFill>
        <p:spPr>
          <a:xfrm>
            <a:off x="548640" y="4169520"/>
            <a:ext cx="292320" cy="292320"/>
          </a:xfrm>
          <a:prstGeom prst="rect">
            <a:avLst/>
          </a:prstGeom>
          <a:noFill/>
          <a:ln w="0">
            <a:noFill/>
          </a:ln>
        </p:spPr>
      </p:pic>
      <p:sp>
        <p:nvSpPr>
          <p:cNvPr id="205" name="Text 13"/>
          <p:cNvSpPr/>
          <p:nvPr/>
        </p:nvSpPr>
        <p:spPr>
          <a:xfrm>
            <a:off x="1005840" y="4114800"/>
            <a:ext cx="1051524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dk1"/>
                </a:solidFill>
                <a:effectLst/>
                <a:uFillTx/>
                <a:latin typeface="Calibri"/>
              </a:rPr>
              <a:t>All tests pass; zero console errors on desktop and mobile</a:t>
            </a:r>
            <a:endParaRPr lang="en-US" sz="1800" b="0" u="none" strike="noStrike">
              <a:solidFill>
                <a:srgbClr val="000000"/>
              </a:solidFill>
              <a:effectLst/>
              <a:uFillTx/>
              <a:latin typeface="Arial"/>
            </a:endParaRPr>
          </a:p>
        </p:txBody>
      </p:sp>
      <p:pic>
        <p:nvPicPr>
          <p:cNvPr id="206" name="result icon 2" descr="preencoded.png"/>
          <p:cNvPicPr/>
          <p:nvPr/>
        </p:nvPicPr>
        <p:blipFill>
          <a:blip r:embed="rId2"/>
          <a:stretch/>
        </p:blipFill>
        <p:spPr>
          <a:xfrm>
            <a:off x="548640" y="4672440"/>
            <a:ext cx="292320" cy="292320"/>
          </a:xfrm>
          <a:prstGeom prst="rect">
            <a:avLst/>
          </a:prstGeom>
          <a:noFill/>
          <a:ln w="0">
            <a:noFill/>
          </a:ln>
        </p:spPr>
      </p:pic>
      <p:sp>
        <p:nvSpPr>
          <p:cNvPr id="207" name="Text 14"/>
          <p:cNvSpPr/>
          <p:nvPr/>
        </p:nvSpPr>
        <p:spPr>
          <a:xfrm>
            <a:off x="1005840" y="4617720"/>
            <a:ext cx="1051524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dk1"/>
                </a:solidFill>
                <a:effectLst/>
                <a:uFillTx/>
                <a:latin typeface="Calibri"/>
              </a:rPr>
              <a:t>28 documented test cases with expected and actual results</a:t>
            </a:r>
            <a:endParaRPr lang="en-US" sz="1800" b="0" u="none" strike="noStrike">
              <a:solidFill>
                <a:srgbClr val="000000"/>
              </a:solidFill>
              <a:effectLst/>
              <a:uFillTx/>
              <a:latin typeface="Arial"/>
            </a:endParaRPr>
          </a:p>
        </p:txBody>
      </p:sp>
      <p:pic>
        <p:nvPicPr>
          <p:cNvPr id="208" name="result icon 3" descr="preencoded.png"/>
          <p:cNvPicPr/>
          <p:nvPr/>
        </p:nvPicPr>
        <p:blipFill>
          <a:blip r:embed="rId3"/>
          <a:stretch/>
        </p:blipFill>
        <p:spPr>
          <a:xfrm>
            <a:off x="548640" y="5175360"/>
            <a:ext cx="292320" cy="292320"/>
          </a:xfrm>
          <a:prstGeom prst="rect">
            <a:avLst/>
          </a:prstGeom>
          <a:noFill/>
          <a:ln w="0">
            <a:noFill/>
          </a:ln>
        </p:spPr>
      </p:pic>
      <p:sp>
        <p:nvSpPr>
          <p:cNvPr id="209" name="Text 15"/>
          <p:cNvSpPr/>
          <p:nvPr/>
        </p:nvSpPr>
        <p:spPr>
          <a:xfrm>
            <a:off x="1005840" y="5120640"/>
            <a:ext cx="1051524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dk1"/>
                </a:solidFill>
                <a:effectLst/>
                <a:uFillTx/>
                <a:latin typeface="Calibri"/>
              </a:rPr>
              <a:t>CSV exports open correctly in Excel, Google Sheets and pandas</a:t>
            </a:r>
            <a:endParaRPr lang="en-US" sz="1800" b="0" u="none" strike="noStrike">
              <a:solidFill>
                <a:srgbClr val="000000"/>
              </a:solidFill>
              <a:effectLst/>
              <a:uFillTx/>
              <a:latin typeface="Arial"/>
            </a:endParaRPr>
          </a:p>
        </p:txBody>
      </p:sp>
      <p:pic>
        <p:nvPicPr>
          <p:cNvPr id="210" name="result icon 4" descr="preencoded.png"/>
          <p:cNvPicPr/>
          <p:nvPr/>
        </p:nvPicPr>
        <p:blipFill>
          <a:blip r:embed="rId4"/>
          <a:stretch/>
        </p:blipFill>
        <p:spPr>
          <a:xfrm>
            <a:off x="548640" y="5678280"/>
            <a:ext cx="292320" cy="292320"/>
          </a:xfrm>
          <a:prstGeom prst="rect">
            <a:avLst/>
          </a:prstGeom>
          <a:noFill/>
          <a:ln w="0">
            <a:noFill/>
          </a:ln>
        </p:spPr>
      </p:pic>
      <p:sp>
        <p:nvSpPr>
          <p:cNvPr id="211" name="Text 16"/>
          <p:cNvSpPr/>
          <p:nvPr/>
        </p:nvSpPr>
        <p:spPr>
          <a:xfrm>
            <a:off x="1005840" y="5623560"/>
            <a:ext cx="1051524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dk1"/>
                </a:solidFill>
                <a:effectLst/>
                <a:uFillTx/>
                <a:latin typeface="Calibri"/>
              </a:rPr>
              <a:t>Offline mode verified: app shell loads with no internet</a:t>
            </a:r>
            <a:endParaRPr lang="en-US" sz="1800" b="0" u="none" strike="noStrike">
              <a:solidFill>
                <a:srgbClr val="000000"/>
              </a:solidFill>
              <a:effectLst/>
              <a:uFillTx/>
              <a:latin typeface="Arial"/>
            </a:endParaRPr>
          </a:p>
        </p:txBody>
      </p:sp>
      <p:sp>
        <p:nvSpPr>
          <p:cNvPr id="212" name="PlaceHolder 2"/>
          <p:cNvSpPr>
            <a:spLocks noGrp="1"/>
          </p:cNvSpPr>
          <p:nvPr>
            <p:ph type="sldNum" idx="15"/>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804C21CB-3AD9-43D6-AAD3-D027B96E3CC7}"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hasCustomPrompt="1"/>
          </p:nvPr>
        </p:nvSpPr>
        <p:spPr>
          <a:xfrm>
            <a:off x="548640" y="320040"/>
            <a:ext cx="11091240" cy="8683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1" u="none" strike="noStrike">
                <a:solidFill>
                  <a:schemeClr val="dk1"/>
                </a:solidFill>
                <a:effectLst/>
                <a:uFillTx/>
                <a:latin typeface="Segoe UI Semibold"/>
              </a:rPr>
              <a:t>Honest limits today, and a clear path forward</a:t>
            </a:r>
            <a:endParaRPr lang="en-US" sz="3000" b="0" u="none" strike="noStrike">
              <a:solidFill>
                <a:schemeClr val="dk1"/>
              </a:solidFill>
              <a:effectLst/>
              <a:uFillTx/>
              <a:latin typeface="Calibri"/>
            </a:endParaRPr>
          </a:p>
        </p:txBody>
      </p:sp>
      <p:sp>
        <p:nvSpPr>
          <p:cNvPr id="214" name="Limitations card"/>
          <p:cNvSpPr/>
          <p:nvPr/>
        </p:nvSpPr>
        <p:spPr>
          <a:xfrm>
            <a:off x="548640" y="1417320"/>
            <a:ext cx="5421960" cy="3931560"/>
          </a:xfrm>
          <a:prstGeom prst="roundRect">
            <a:avLst>
              <a:gd name="adj" fmla="val 2791"/>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15" name="Limitations icon" descr="preencoded.png"/>
          <p:cNvPicPr/>
          <p:nvPr/>
        </p:nvPicPr>
        <p:blipFill>
          <a:blip r:embed="rId1"/>
          <a:stretch/>
        </p:blipFill>
        <p:spPr>
          <a:xfrm>
            <a:off x="822960" y="1645920"/>
            <a:ext cx="456840" cy="456840"/>
          </a:xfrm>
          <a:prstGeom prst="rect">
            <a:avLst/>
          </a:prstGeom>
          <a:noFill/>
          <a:ln w="0">
            <a:noFill/>
          </a:ln>
        </p:spPr>
      </p:pic>
      <p:sp>
        <p:nvSpPr>
          <p:cNvPr id="216" name="Text 2"/>
          <p:cNvSpPr/>
          <p:nvPr/>
        </p:nvSpPr>
        <p:spPr>
          <a:xfrm>
            <a:off x="1417320" y="1627560"/>
            <a:ext cx="411444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chemeClr val="accent1"/>
                </a:solidFill>
                <a:effectLst/>
                <a:uFillTx/>
                <a:latin typeface="Calibri"/>
              </a:rPr>
              <a:t>Limitations</a:t>
            </a:r>
            <a:endParaRPr lang="en-US" sz="2400" b="0" u="none" strike="noStrike">
              <a:solidFill>
                <a:srgbClr val="000000"/>
              </a:solidFill>
              <a:effectLst/>
              <a:uFillTx/>
              <a:latin typeface="Arial"/>
            </a:endParaRPr>
          </a:p>
        </p:txBody>
      </p:sp>
      <p:sp>
        <p:nvSpPr>
          <p:cNvPr id="217" name="Text 3"/>
          <p:cNvSpPr/>
          <p:nvPr/>
        </p:nvSpPr>
        <p:spPr>
          <a:xfrm>
            <a:off x="868680" y="2377440"/>
            <a:ext cx="4845960" cy="338292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400"/>
              </a:spcAft>
              <a:buClr>
                <a:srgbClr val="212121"/>
              </a:buClr>
              <a:buFont typeface="Symbol" charset="2"/>
              <a:buChar char=""/>
            </a:pPr>
            <a:r>
              <a:rPr lang="en-US" sz="1900" b="0" u="none" strike="noStrike">
                <a:solidFill>
                  <a:schemeClr val="dk1"/>
                </a:solidFill>
                <a:effectLst/>
                <a:uFillTx/>
                <a:latin typeface="Calibri"/>
              </a:rPr>
              <a:t>Snapshot every 6 hours, not live: call first</a:t>
            </a:r>
            <a:endParaRPr lang="en-US" sz="1900" b="0" u="none" strike="noStrike">
              <a:solidFill>
                <a:srgbClr val="000000"/>
              </a:solidFill>
              <a:effectLst/>
              <a:uFillTx/>
              <a:latin typeface="Arial"/>
            </a:endParaRPr>
          </a:p>
          <a:p>
            <a:pPr marL="343080" indent="-343080" defTabSz="914400">
              <a:lnSpc>
                <a:spcPct val="100000"/>
              </a:lnSpc>
              <a:spcAft>
                <a:spcPts val="1400"/>
              </a:spcAft>
              <a:buClr>
                <a:srgbClr val="212121"/>
              </a:buClr>
              <a:buFont typeface="Symbol" charset="2"/>
              <a:buChar char=""/>
            </a:pPr>
            <a:r>
              <a:rPr lang="en-US" sz="1900" b="0" u="none" strike="noStrike">
                <a:solidFill>
                  <a:schemeClr val="dk1"/>
                </a:solidFill>
                <a:effectLst/>
                <a:uFillTx/>
                <a:latin typeface="Calibri"/>
              </a:rPr>
              <a:t>Depends on banks updating eRaktKosh</a:t>
            </a:r>
            <a:endParaRPr lang="en-US" sz="1900" b="0" u="none" strike="noStrike">
              <a:solidFill>
                <a:srgbClr val="000000"/>
              </a:solidFill>
              <a:effectLst/>
              <a:uFillTx/>
              <a:latin typeface="Arial"/>
            </a:endParaRPr>
          </a:p>
          <a:p>
            <a:pPr marL="343080" indent="-343080" defTabSz="914400">
              <a:lnSpc>
                <a:spcPct val="100000"/>
              </a:lnSpc>
              <a:spcAft>
                <a:spcPts val="1400"/>
              </a:spcAft>
              <a:buClr>
                <a:srgbClr val="212121"/>
              </a:buClr>
              <a:buFont typeface="Symbol" charset="2"/>
              <a:buChar char=""/>
            </a:pPr>
            <a:r>
              <a:rPr lang="en-US" sz="1900" b="0" u="none" strike="noStrike">
                <a:solidFill>
                  <a:schemeClr val="dk1"/>
                </a:solidFill>
                <a:effectLst/>
                <a:uFillTx/>
                <a:latin typeface="Calibri"/>
              </a:rPr>
              <a:t>Map shows district centres, not exact address</a:t>
            </a:r>
            <a:endParaRPr lang="en-US" sz="1900" b="0" u="none" strike="noStrike">
              <a:solidFill>
                <a:srgbClr val="000000"/>
              </a:solidFill>
              <a:effectLst/>
              <a:uFillTx/>
              <a:latin typeface="Arial"/>
            </a:endParaRPr>
          </a:p>
          <a:p>
            <a:pPr marL="343080" indent="-343080" defTabSz="914400">
              <a:lnSpc>
                <a:spcPct val="100000"/>
              </a:lnSpc>
              <a:spcAft>
                <a:spcPts val="1400"/>
              </a:spcAft>
              <a:buClr>
                <a:srgbClr val="212121"/>
              </a:buClr>
              <a:buFont typeface="Symbol" charset="2"/>
              <a:buChar char=""/>
            </a:pPr>
            <a:r>
              <a:rPr lang="en-US" sz="1900" b="0" u="none" strike="noStrike">
                <a:solidFill>
                  <a:schemeClr val="dk1"/>
                </a:solidFill>
                <a:effectLst/>
                <a:uFillTx/>
                <a:latin typeface="Calibri"/>
              </a:rPr>
              <a:t>'Near me' needs HTTPS; English only</a:t>
            </a:r>
            <a:endParaRPr lang="en-US" sz="1900" b="0" u="none" strike="noStrike">
              <a:solidFill>
                <a:srgbClr val="000000"/>
              </a:solidFill>
              <a:effectLst/>
              <a:uFillTx/>
              <a:latin typeface="Arial"/>
            </a:endParaRPr>
          </a:p>
        </p:txBody>
      </p:sp>
      <p:sp>
        <p:nvSpPr>
          <p:cNvPr id="218" name="Future scope card"/>
          <p:cNvSpPr/>
          <p:nvPr/>
        </p:nvSpPr>
        <p:spPr>
          <a:xfrm>
            <a:off x="6217920" y="1417320"/>
            <a:ext cx="5421960" cy="3931560"/>
          </a:xfrm>
          <a:prstGeom prst="roundRect">
            <a:avLst>
              <a:gd name="adj" fmla="val 2791"/>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19" name="Future scope icon" descr="preencoded.png"/>
          <p:cNvPicPr/>
          <p:nvPr/>
        </p:nvPicPr>
        <p:blipFill>
          <a:blip r:embed="rId2"/>
          <a:stretch/>
        </p:blipFill>
        <p:spPr>
          <a:xfrm>
            <a:off x="6492240" y="1645920"/>
            <a:ext cx="456840" cy="456840"/>
          </a:xfrm>
          <a:prstGeom prst="rect">
            <a:avLst/>
          </a:prstGeom>
          <a:noFill/>
          <a:ln w="0">
            <a:noFill/>
          </a:ln>
        </p:spPr>
      </p:pic>
      <p:sp>
        <p:nvSpPr>
          <p:cNvPr id="220" name="Text 5"/>
          <p:cNvSpPr/>
          <p:nvPr/>
        </p:nvSpPr>
        <p:spPr>
          <a:xfrm>
            <a:off x="7086600" y="1627560"/>
            <a:ext cx="411444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chemeClr val="accent1"/>
                </a:solidFill>
                <a:effectLst/>
                <a:uFillTx/>
                <a:latin typeface="Calibri"/>
              </a:rPr>
              <a:t>Future scope</a:t>
            </a:r>
            <a:endParaRPr lang="en-US" sz="2400" b="0" u="none" strike="noStrike">
              <a:solidFill>
                <a:srgbClr val="000000"/>
              </a:solidFill>
              <a:effectLst/>
              <a:uFillTx/>
              <a:latin typeface="Arial"/>
            </a:endParaRPr>
          </a:p>
        </p:txBody>
      </p:sp>
      <p:sp>
        <p:nvSpPr>
          <p:cNvPr id="221" name="Text 6"/>
          <p:cNvSpPr/>
          <p:nvPr/>
        </p:nvSpPr>
        <p:spPr>
          <a:xfrm>
            <a:off x="6537960" y="2377440"/>
            <a:ext cx="4845960" cy="338292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400"/>
              </a:spcAft>
              <a:buClr>
                <a:srgbClr val="212121"/>
              </a:buClr>
              <a:buFont typeface="Symbol" charset="2"/>
              <a:buChar char=""/>
            </a:pPr>
            <a:r>
              <a:rPr lang="en-US" sz="1900" b="0" u="none" strike="noStrike">
                <a:solidFill>
                  <a:schemeClr val="dk1"/>
                </a:solidFill>
                <a:effectLst/>
                <a:uFillTx/>
                <a:latin typeface="Calibri"/>
              </a:rPr>
              <a:t>SMS / WhatsApp alerts for rare groups</a:t>
            </a:r>
            <a:endParaRPr lang="en-US" sz="1900" b="0" u="none" strike="noStrike">
              <a:solidFill>
                <a:srgbClr val="000000"/>
              </a:solidFill>
              <a:effectLst/>
              <a:uFillTx/>
              <a:latin typeface="Arial"/>
            </a:endParaRPr>
          </a:p>
          <a:p>
            <a:pPr marL="343080" indent="-343080" defTabSz="914400">
              <a:lnSpc>
                <a:spcPct val="100000"/>
              </a:lnSpc>
              <a:spcAft>
                <a:spcPts val="1400"/>
              </a:spcAft>
              <a:buClr>
                <a:srgbClr val="212121"/>
              </a:buClr>
              <a:buFont typeface="Symbol" charset="2"/>
              <a:buChar char=""/>
            </a:pPr>
            <a:r>
              <a:rPr lang="en-US" sz="1900" b="0" u="none" strike="noStrike">
                <a:solidFill>
                  <a:schemeClr val="dk1"/>
                </a:solidFill>
                <a:effectLst/>
                <a:uFillTx/>
                <a:latin typeface="Calibri"/>
              </a:rPr>
              <a:t>Donor registration and blood-drive matching</a:t>
            </a:r>
            <a:endParaRPr lang="en-US" sz="1900" b="0" u="none" strike="noStrike">
              <a:solidFill>
                <a:srgbClr val="000000"/>
              </a:solidFill>
              <a:effectLst/>
              <a:uFillTx/>
              <a:latin typeface="Arial"/>
            </a:endParaRPr>
          </a:p>
          <a:p>
            <a:pPr marL="343080" indent="-343080" defTabSz="914400">
              <a:lnSpc>
                <a:spcPct val="100000"/>
              </a:lnSpc>
              <a:spcAft>
                <a:spcPts val="1400"/>
              </a:spcAft>
              <a:buClr>
                <a:srgbClr val="212121"/>
              </a:buClr>
              <a:buFont typeface="Symbol" charset="2"/>
              <a:buChar char=""/>
            </a:pPr>
            <a:r>
              <a:rPr lang="en-US" sz="1900" b="0" u="none" strike="noStrike">
                <a:solidFill>
                  <a:schemeClr val="dk1"/>
                </a:solidFill>
                <a:effectLst/>
                <a:uFillTx/>
                <a:latin typeface="Calibri"/>
              </a:rPr>
              <a:t>Hospital login for direct stock updates</a:t>
            </a:r>
            <a:endParaRPr lang="en-US" sz="1900" b="0" u="none" strike="noStrike">
              <a:solidFill>
                <a:srgbClr val="000000"/>
              </a:solidFill>
              <a:effectLst/>
              <a:uFillTx/>
              <a:latin typeface="Arial"/>
            </a:endParaRPr>
          </a:p>
          <a:p>
            <a:pPr marL="343080" indent="-343080" defTabSz="914400">
              <a:lnSpc>
                <a:spcPct val="100000"/>
              </a:lnSpc>
              <a:spcAft>
                <a:spcPts val="1400"/>
              </a:spcAft>
              <a:buClr>
                <a:srgbClr val="212121"/>
              </a:buClr>
              <a:buFont typeface="Symbol" charset="2"/>
              <a:buChar char=""/>
            </a:pPr>
            <a:r>
              <a:rPr lang="en-US" sz="1900" b="0" u="none" strike="noStrike">
                <a:solidFill>
                  <a:schemeClr val="dk1"/>
                </a:solidFill>
                <a:effectLst/>
                <a:uFillTx/>
                <a:latin typeface="Calibri"/>
              </a:rPr>
              <a:t>Demand forecasting and regional languages</a:t>
            </a:r>
            <a:endParaRPr lang="en-US" sz="1900" b="0" u="none" strike="noStrike">
              <a:solidFill>
                <a:srgbClr val="000000"/>
              </a:solidFill>
              <a:effectLst/>
              <a:uFillTx/>
              <a:latin typeface="Arial"/>
            </a:endParaRPr>
          </a:p>
        </p:txBody>
      </p:sp>
      <p:sp>
        <p:nvSpPr>
          <p:cNvPr id="222" name="PlaceHolder 2"/>
          <p:cNvSpPr>
            <a:spLocks noGrp="1"/>
          </p:cNvSpPr>
          <p:nvPr>
            <p:ph type="sldNum" idx="16"/>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97083EE2-6A26-4355-97C0-19BA026931A3}"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Text 0"/>
          <p:cNvSpPr/>
          <p:nvPr/>
        </p:nvSpPr>
        <p:spPr>
          <a:xfrm>
            <a:off x="731520" y="548640"/>
            <a:ext cx="1069812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chemeClr val="lt1"/>
                </a:solidFill>
                <a:effectLst/>
                <a:uFillTx/>
                <a:latin typeface="Segoe UI Semibold"/>
                <a:ea typeface="Segoe UI Semibold"/>
              </a:rPr>
              <a:t>Raktsetu turns scattered public data into a life-saving search</a:t>
            </a:r>
            <a:endParaRPr lang="en-US" sz="3200" b="0" u="none" strike="noStrike">
              <a:solidFill>
                <a:srgbClr val="FFFFFF"/>
              </a:solidFill>
              <a:effectLst/>
              <a:uFillTx/>
              <a:latin typeface="Arial"/>
            </a:endParaRPr>
          </a:p>
        </p:txBody>
      </p:sp>
      <p:sp>
        <p:nvSpPr>
          <p:cNvPr id="224" name="takeaway 1"/>
          <p:cNvSpPr/>
          <p:nvPr/>
        </p:nvSpPr>
        <p:spPr>
          <a:xfrm>
            <a:off x="731520" y="2011680"/>
            <a:ext cx="3337200" cy="2011320"/>
          </a:xfrm>
          <a:prstGeom prst="roundRect">
            <a:avLst>
              <a:gd name="adj" fmla="val 5455"/>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25" name="Text 2"/>
          <p:cNvSpPr/>
          <p:nvPr/>
        </p:nvSpPr>
        <p:spPr>
          <a:xfrm>
            <a:off x="1005840" y="2240280"/>
            <a:ext cx="27885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1" u="none" strike="noStrike">
                <a:solidFill>
                  <a:schemeClr val="lt1"/>
                </a:solidFill>
                <a:effectLst/>
                <a:uFillTx/>
                <a:latin typeface="Calibri"/>
              </a:rPr>
              <a:t>Impact</a:t>
            </a:r>
            <a:endParaRPr lang="en-US" sz="2200" b="0" u="none" strike="noStrike">
              <a:solidFill>
                <a:srgbClr val="FFFFFF"/>
              </a:solidFill>
              <a:effectLst/>
              <a:uFillTx/>
              <a:latin typeface="Arial"/>
            </a:endParaRPr>
          </a:p>
        </p:txBody>
      </p:sp>
      <p:sp>
        <p:nvSpPr>
          <p:cNvPr id="226" name="Text 3"/>
          <p:cNvSpPr/>
          <p:nvPr/>
        </p:nvSpPr>
        <p:spPr>
          <a:xfrm>
            <a:off x="1005840" y="2788920"/>
            <a:ext cx="278856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lt1"/>
                </a:solidFill>
                <a:effectLst/>
                <a:uFillTx/>
                <a:latin typeface="Calibri"/>
              </a:rPr>
              <a:t>4,716 banks searchable in seconds, with compatible groups</a:t>
            </a:r>
            <a:endParaRPr lang="en-US" sz="1800" b="0" u="none" strike="noStrike">
              <a:solidFill>
                <a:srgbClr val="FFFFFF"/>
              </a:solidFill>
              <a:effectLst/>
              <a:uFillTx/>
              <a:latin typeface="Arial"/>
            </a:endParaRPr>
          </a:p>
        </p:txBody>
      </p:sp>
      <p:sp>
        <p:nvSpPr>
          <p:cNvPr id="227" name="takeaway 2"/>
          <p:cNvSpPr/>
          <p:nvPr/>
        </p:nvSpPr>
        <p:spPr>
          <a:xfrm>
            <a:off x="4343400" y="2011680"/>
            <a:ext cx="3337200" cy="2011320"/>
          </a:xfrm>
          <a:prstGeom prst="roundRect">
            <a:avLst>
              <a:gd name="adj" fmla="val 5455"/>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28" name="Text 5"/>
          <p:cNvSpPr/>
          <p:nvPr/>
        </p:nvSpPr>
        <p:spPr>
          <a:xfrm>
            <a:off x="4617720" y="2240280"/>
            <a:ext cx="27885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1" u="none" strike="noStrike">
                <a:solidFill>
                  <a:schemeClr val="lt1"/>
                </a:solidFill>
                <a:effectLst/>
                <a:uFillTx/>
                <a:latin typeface="Calibri"/>
              </a:rPr>
              <a:t>Learning</a:t>
            </a:r>
            <a:endParaRPr lang="en-US" sz="2200" b="0" u="none" strike="noStrike">
              <a:solidFill>
                <a:srgbClr val="FFFFFF"/>
              </a:solidFill>
              <a:effectLst/>
              <a:uFillTx/>
              <a:latin typeface="Arial"/>
            </a:endParaRPr>
          </a:p>
        </p:txBody>
      </p:sp>
      <p:sp>
        <p:nvSpPr>
          <p:cNvPr id="229" name="Text 6"/>
          <p:cNvSpPr/>
          <p:nvPr/>
        </p:nvSpPr>
        <p:spPr>
          <a:xfrm>
            <a:off x="4617720" y="2788920"/>
            <a:ext cx="278856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lt1"/>
                </a:solidFill>
                <a:effectLst/>
                <a:uFillTx/>
                <a:latin typeface="Calibri"/>
              </a:rPr>
              <a:t>Real data engineering: lakehouse, dbt, testing, PWA</a:t>
            </a:r>
            <a:endParaRPr lang="en-US" sz="1800" b="0" u="none" strike="noStrike">
              <a:solidFill>
                <a:srgbClr val="FFFFFF"/>
              </a:solidFill>
              <a:effectLst/>
              <a:uFillTx/>
              <a:latin typeface="Arial"/>
            </a:endParaRPr>
          </a:p>
        </p:txBody>
      </p:sp>
      <p:sp>
        <p:nvSpPr>
          <p:cNvPr id="230" name="takeaway 3"/>
          <p:cNvSpPr/>
          <p:nvPr/>
        </p:nvSpPr>
        <p:spPr>
          <a:xfrm>
            <a:off x="7955280" y="2011680"/>
            <a:ext cx="3337200" cy="2011320"/>
          </a:xfrm>
          <a:prstGeom prst="roundRect">
            <a:avLst>
              <a:gd name="adj" fmla="val 5455"/>
            </a:avLst>
          </a:prstGeom>
          <a:solidFill>
            <a:schemeClr val="accent1"/>
          </a:solidFill>
          <a:ln w="12700">
            <a:solidFill>
              <a:srgbClr val="B71C1C"/>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31" name="Text 8"/>
          <p:cNvSpPr/>
          <p:nvPr/>
        </p:nvSpPr>
        <p:spPr>
          <a:xfrm>
            <a:off x="8229600" y="2240280"/>
            <a:ext cx="27885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1" u="none" strike="noStrike">
                <a:solidFill>
                  <a:schemeClr val="lt1"/>
                </a:solidFill>
                <a:effectLst/>
                <a:uFillTx/>
                <a:latin typeface="Calibri"/>
              </a:rPr>
              <a:t>Working product</a:t>
            </a:r>
            <a:endParaRPr lang="en-US" sz="2200" b="0" u="none" strike="noStrike">
              <a:solidFill>
                <a:srgbClr val="FFFFFF"/>
              </a:solidFill>
              <a:effectLst/>
              <a:uFillTx/>
              <a:latin typeface="Arial"/>
            </a:endParaRPr>
          </a:p>
        </p:txBody>
      </p:sp>
      <p:sp>
        <p:nvSpPr>
          <p:cNvPr id="232" name="Text 9"/>
          <p:cNvSpPr/>
          <p:nvPr/>
        </p:nvSpPr>
        <p:spPr>
          <a:xfrm>
            <a:off x="8229600" y="2788920"/>
            <a:ext cx="278856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lt1"/>
                </a:solidFill>
                <a:effectLst/>
                <a:uFillTx/>
                <a:latin typeface="Calibri"/>
              </a:rPr>
              <a:t>Tested, documented and ready to deploy</a:t>
            </a:r>
            <a:endParaRPr lang="en-US" sz="1800" b="0" u="none" strike="noStrike">
              <a:solidFill>
                <a:srgbClr val="FFFFFF"/>
              </a:solidFill>
              <a:effectLst/>
              <a:uFillTx/>
              <a:latin typeface="Arial"/>
            </a:endParaRPr>
          </a:p>
        </p:txBody>
      </p:sp>
      <p:sp>
        <p:nvSpPr>
          <p:cNvPr id="233" name="Text 10"/>
          <p:cNvSpPr/>
          <p:nvPr/>
        </p:nvSpPr>
        <p:spPr>
          <a:xfrm>
            <a:off x="731520" y="4434840"/>
            <a:ext cx="548604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4000" b="1" u="none" strike="noStrike">
                <a:solidFill>
                  <a:schemeClr val="lt1"/>
                </a:solidFill>
                <a:effectLst/>
                <a:uFillTx/>
                <a:latin typeface="Segoe UI Semibold"/>
                <a:ea typeface="Segoe UI Semibold"/>
              </a:rPr>
              <a:t>Questions?</a:t>
            </a:r>
            <a:endParaRPr lang="en-US" sz="4000" b="0" u="none" strike="noStrike">
              <a:solidFill>
                <a:srgbClr val="FFFFFF"/>
              </a:solidFill>
              <a:effectLst/>
              <a:uFillTx/>
              <a:latin typeface="Arial"/>
            </a:endParaRPr>
          </a:p>
        </p:txBody>
      </p:sp>
      <p:sp>
        <p:nvSpPr>
          <p:cNvPr id="234" name="Text 11"/>
          <p:cNvSpPr/>
          <p:nvPr/>
        </p:nvSpPr>
        <p:spPr>
          <a:xfrm>
            <a:off x="731520" y="5303520"/>
            <a:ext cx="106981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0" u="none" strike="noStrike">
                <a:solidFill>
                  <a:schemeClr val="accent2"/>
                </a:solidFill>
                <a:effectLst/>
                <a:uFillTx/>
                <a:latin typeface="Calibri"/>
              </a:rPr>
              <a:t>Thank you  </a:t>
            </a:r>
            <a:endParaRPr lang="en-US" sz="1800" b="0" u="none" strike="noStrike">
              <a:solidFill>
                <a:srgbClr val="FFFFFF"/>
              </a:solidFill>
              <a:effectLst/>
              <a:uFillTx/>
              <a:latin typeface="Arial"/>
            </a:endParaRPr>
          </a:p>
        </p:txBody>
      </p:sp>
      <p:sp>
        <p:nvSpPr>
          <p:cNvPr id="235" name="PlaceHolder 1"/>
          <p:cNvSpPr>
            <a:spLocks noGrp="1"/>
          </p:cNvSpPr>
          <p:nvPr>
            <p:ph type="sldNum" idx="17"/>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lt2"/>
                </a:solidFill>
                <a:effectLst/>
                <a:uFillTx/>
                <a:latin typeface="Calibri"/>
              </a:defRPr>
            </a:lvl1pPr>
          </a:lstStyle>
          <a:p>
            <a:pPr indent="0" algn="r" defTabSz="914400">
              <a:lnSpc>
                <a:spcPct val="100000"/>
              </a:lnSpc>
              <a:buNone/>
            </a:pPr>
            <a:fld id="{BE8BC7AC-3F1A-4C5B-9E2B-3A31DE653BF4}" type="slidenum">
              <a:rPr lang="en-US" sz="1200" b="0" u="none" strike="noStrike">
                <a:solidFill>
                  <a:schemeClr val="lt2"/>
                </a:solidFill>
                <a:effectLst/>
                <a:uFillTx/>
                <a:latin typeface="Calibri"/>
              </a:rPr>
              <a:t>&lt;number&gt;</a:t>
            </a:fld>
            <a:endParaRPr lang="en-US" sz="12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36" name="PlaceHolder 1"/>
          <p:cNvSpPr>
            <a:spLocks noGrp="1"/>
          </p:cNvSpPr>
          <p:nvPr>
            <p:ph type="title" hasCustomPrompt="1"/>
          </p:nvPr>
        </p:nvSpPr>
        <p:spPr>
          <a:xfrm>
            <a:off x="548640" y="320040"/>
            <a:ext cx="11091240" cy="8683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1" u="none" strike="noStrike">
                <a:solidFill>
                  <a:schemeClr val="dk1"/>
                </a:solidFill>
                <a:effectLst/>
                <a:uFillTx/>
                <a:latin typeface="Segoe UI Semibold"/>
              </a:rPr>
              <a:t>Backup: ER diagram of the gold tables</a:t>
            </a:r>
            <a:endParaRPr lang="en-US" sz="3000" b="0" u="none" strike="noStrike">
              <a:solidFill>
                <a:schemeClr val="dk1"/>
              </a:solidFill>
              <a:effectLst/>
              <a:uFillTx/>
              <a:latin typeface="Calibri"/>
            </a:endParaRPr>
          </a:p>
        </p:txBody>
      </p:sp>
      <p:pic>
        <p:nvPicPr>
          <p:cNvPr id="237" name="Backup: ER diagram of the gold tables" descr="/home/radhey/Documents/project_idea/docs/diagrams/er_diagram.png"/>
          <p:cNvPicPr/>
          <p:nvPr/>
        </p:nvPicPr>
        <p:blipFill>
          <a:blip r:embed="rId1"/>
          <a:stretch/>
        </p:blipFill>
        <p:spPr>
          <a:xfrm>
            <a:off x="4221360" y="1280160"/>
            <a:ext cx="3748680" cy="5028840"/>
          </a:xfrm>
          <a:prstGeom prst="rect">
            <a:avLst/>
          </a:prstGeom>
          <a:noFill/>
          <a:ln w="0">
            <a:noFill/>
          </a:ln>
        </p:spPr>
      </p:pic>
      <p:sp>
        <p:nvSpPr>
          <p:cNvPr id="238" name="PlaceHolder 2"/>
          <p:cNvSpPr>
            <a:spLocks noGrp="1"/>
          </p:cNvSpPr>
          <p:nvPr>
            <p:ph type="sldNum" idx="18"/>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E7A8D21E-413C-4A4E-8679-B4599D4A3F17}"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39" name="PlaceHolder 1"/>
          <p:cNvSpPr>
            <a:spLocks noGrp="1"/>
          </p:cNvSpPr>
          <p:nvPr>
            <p:ph type="title" hasCustomPrompt="1"/>
          </p:nvPr>
        </p:nvSpPr>
        <p:spPr>
          <a:xfrm>
            <a:off x="548640" y="320040"/>
            <a:ext cx="11091240" cy="8683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1" u="none" strike="noStrike">
                <a:solidFill>
                  <a:schemeClr val="dk1"/>
                </a:solidFill>
                <a:effectLst/>
                <a:uFillTx/>
                <a:latin typeface="Segoe UI Semibold"/>
              </a:rPr>
              <a:t>Backup: DFD Level 1</a:t>
            </a:r>
            <a:endParaRPr lang="en-US" sz="3000" b="0" u="none" strike="noStrike">
              <a:solidFill>
                <a:schemeClr val="dk1"/>
              </a:solidFill>
              <a:effectLst/>
              <a:uFillTx/>
              <a:latin typeface="Calibri"/>
            </a:endParaRPr>
          </a:p>
        </p:txBody>
      </p:sp>
      <p:pic>
        <p:nvPicPr>
          <p:cNvPr id="240" name="Backup: DFD Level 1" descr="/home/radhey/Documents/project_idea/docs/diagrams/dfd_level1.png"/>
          <p:cNvPicPr/>
          <p:nvPr/>
        </p:nvPicPr>
        <p:blipFill>
          <a:blip r:embed="rId1"/>
          <a:stretch/>
        </p:blipFill>
        <p:spPr>
          <a:xfrm>
            <a:off x="4532400" y="1280160"/>
            <a:ext cx="3126960" cy="5028840"/>
          </a:xfrm>
          <a:prstGeom prst="rect">
            <a:avLst/>
          </a:prstGeom>
          <a:noFill/>
          <a:ln w="0">
            <a:noFill/>
          </a:ln>
        </p:spPr>
      </p:pic>
      <p:sp>
        <p:nvSpPr>
          <p:cNvPr id="241" name="PlaceHolder 2"/>
          <p:cNvSpPr>
            <a:spLocks noGrp="1"/>
          </p:cNvSpPr>
          <p:nvPr>
            <p:ph type="sldNum" idx="19"/>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E2D848D5-4565-476D-8D32-5C24E6B86C72}"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42" name="PlaceHolder 1"/>
          <p:cNvSpPr>
            <a:spLocks noGrp="1"/>
          </p:cNvSpPr>
          <p:nvPr>
            <p:ph type="title" hasCustomPrompt="1"/>
          </p:nvPr>
        </p:nvSpPr>
        <p:spPr>
          <a:xfrm>
            <a:off x="548640" y="320040"/>
            <a:ext cx="11091240" cy="8683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1" u="none" strike="noStrike">
                <a:solidFill>
                  <a:schemeClr val="dk1"/>
                </a:solidFill>
                <a:effectLst/>
                <a:uFillTx/>
                <a:latin typeface="Segoe UI Semibold"/>
              </a:rPr>
              <a:t>Backup: Emergency search sequence</a:t>
            </a:r>
            <a:endParaRPr lang="en-US" sz="3000" b="0" u="none" strike="noStrike">
              <a:solidFill>
                <a:schemeClr val="dk1"/>
              </a:solidFill>
              <a:effectLst/>
              <a:uFillTx/>
              <a:latin typeface="Calibri"/>
            </a:endParaRPr>
          </a:p>
        </p:txBody>
      </p:sp>
      <p:pic>
        <p:nvPicPr>
          <p:cNvPr id="243" name="Backup: Emergency search sequence" descr="/home/radhey/Documents/project_idea/docs/diagrams/sequence_diagram.png"/>
          <p:cNvPicPr/>
          <p:nvPr/>
        </p:nvPicPr>
        <p:blipFill>
          <a:blip r:embed="rId1"/>
          <a:stretch/>
        </p:blipFill>
        <p:spPr>
          <a:xfrm>
            <a:off x="3823560" y="1280160"/>
            <a:ext cx="4544280" cy="5028840"/>
          </a:xfrm>
          <a:prstGeom prst="rect">
            <a:avLst/>
          </a:prstGeom>
          <a:noFill/>
          <a:ln w="0">
            <a:noFill/>
          </a:ln>
        </p:spPr>
      </p:pic>
      <p:sp>
        <p:nvSpPr>
          <p:cNvPr id="244" name="PlaceHolder 2"/>
          <p:cNvSpPr>
            <a:spLocks noGrp="1"/>
          </p:cNvSpPr>
          <p:nvPr>
            <p:ph type="sldNum" idx="20"/>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851DE4A6-B9D0-45F7-9531-81B90B3A67F4}"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45" name="PlaceHolder 1"/>
          <p:cNvSpPr>
            <a:spLocks noGrp="1"/>
          </p:cNvSpPr>
          <p:nvPr>
            <p:ph type="title" hasCustomPrompt="1"/>
          </p:nvPr>
        </p:nvSpPr>
        <p:spPr>
          <a:xfrm>
            <a:off x="548640" y="320040"/>
            <a:ext cx="11091240" cy="8683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1" u="none" strike="noStrike">
                <a:solidFill>
                  <a:schemeClr val="dk1"/>
                </a:solidFill>
                <a:effectLst/>
                <a:uFillTx/>
                <a:latin typeface="Segoe UI Semibold"/>
              </a:rPr>
              <a:t>Backup: Detailed architecture</a:t>
            </a:r>
            <a:endParaRPr lang="en-US" sz="3000" b="0" u="none" strike="noStrike">
              <a:solidFill>
                <a:schemeClr val="dk1"/>
              </a:solidFill>
              <a:effectLst/>
              <a:uFillTx/>
              <a:latin typeface="Calibri"/>
            </a:endParaRPr>
          </a:p>
        </p:txBody>
      </p:sp>
      <p:pic>
        <p:nvPicPr>
          <p:cNvPr id="246" name="Backup: Detailed architecture" descr="/home/radhey/Documents/project_idea/docs/diagrams/architecture_diagram.png"/>
          <p:cNvPicPr/>
          <p:nvPr/>
        </p:nvPicPr>
        <p:blipFill>
          <a:blip r:embed="rId1"/>
          <a:stretch/>
        </p:blipFill>
        <p:spPr>
          <a:xfrm>
            <a:off x="4582440" y="1280160"/>
            <a:ext cx="3026160" cy="5028840"/>
          </a:xfrm>
          <a:prstGeom prst="rect">
            <a:avLst/>
          </a:prstGeom>
          <a:noFill/>
          <a:ln w="0">
            <a:noFill/>
          </a:ln>
        </p:spPr>
      </p:pic>
      <p:sp>
        <p:nvSpPr>
          <p:cNvPr id="247" name="PlaceHolder 2"/>
          <p:cNvSpPr>
            <a:spLocks noGrp="1"/>
          </p:cNvSpPr>
          <p:nvPr>
            <p:ph type="sldNum" idx="21"/>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D2B348E6-3AAD-4DC4-8EFA-706788B82899}"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48" name="PlaceHolder 1"/>
          <p:cNvSpPr>
            <a:spLocks noGrp="1"/>
          </p:cNvSpPr>
          <p:nvPr>
            <p:ph type="title" hasCustomPrompt="1"/>
          </p:nvPr>
        </p:nvSpPr>
        <p:spPr>
          <a:xfrm>
            <a:off x="548640" y="320040"/>
            <a:ext cx="11091240" cy="8683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1" u="none" strike="noStrike">
                <a:solidFill>
                  <a:schemeClr val="dk1"/>
                </a:solidFill>
                <a:effectLst/>
                <a:uFillTx/>
                <a:latin typeface="Segoe UI Semibold"/>
              </a:rPr>
              <a:t>Backup: Main API endpoints</a:t>
            </a:r>
            <a:endParaRPr lang="en-US" sz="3000" b="0" u="none" strike="noStrike">
              <a:solidFill>
                <a:schemeClr val="dk1"/>
              </a:solidFill>
              <a:effectLst/>
              <a:uFillTx/>
              <a:latin typeface="Calibri"/>
            </a:endParaRPr>
          </a:p>
        </p:txBody>
      </p:sp>
      <p:graphicFrame>
        <p:nvGraphicFramePr>
          <p:cNvPr id="249" name="Table 0"/>
          <p:cNvGraphicFramePr/>
          <p:nvPr/>
        </p:nvGraphicFramePr>
        <p:xfrm>
          <a:off x="1371600" y="1371600"/>
          <a:ext cx="9417960" cy="4389120"/>
        </p:xfrm>
        <a:graphic>
          <a:graphicData uri="http://schemas.openxmlformats.org/drawingml/2006/table">
            <a:tbl>
              <a:tblPr/>
              <a:tblGrid>
                <a:gridCol w="4846320"/>
                <a:gridCol w="4572000"/>
              </a:tblGrid>
              <a:tr h="548640">
                <a:tc>
                  <a:txBody>
                    <a:bodyPr anchor="ctr">
                      <a:noAutofit/>
                    </a:bodyPr>
                    <a:p>
                      <a:pPr defTabSz="914400">
                        <a:lnSpc>
                          <a:spcPct val="100000"/>
                        </a:lnSpc>
                        <a:tabLst>
                          <a:tab pos="0" algn="l"/>
                        </a:tabLst>
                      </a:pPr>
                      <a:r>
                        <a:rPr lang="en-US" sz="1800" b="1" u="none" strike="noStrike">
                          <a:solidFill>
                            <a:schemeClr val="lt1"/>
                          </a:solidFill>
                          <a:effectLst/>
                          <a:uFillTx/>
                          <a:latin typeface="Calibri"/>
                        </a:rPr>
                        <a:t>Endpoint</a:t>
                      </a:r>
                      <a:endParaRPr lang="en-US" sz="1800" b="0" u="none" strike="noStrike">
                        <a:solidFill>
                          <a:srgbClr val="FFFFFF"/>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accent1"/>
                    </a:solidFill>
                  </a:tcPr>
                </a:tc>
                <a:tc>
                  <a:txBody>
                    <a:bodyPr anchor="ctr">
                      <a:noAutofit/>
                    </a:bodyPr>
                    <a:p>
                      <a:pPr defTabSz="914400">
                        <a:lnSpc>
                          <a:spcPct val="100000"/>
                        </a:lnSpc>
                        <a:tabLst>
                          <a:tab pos="0" algn="l"/>
                        </a:tabLst>
                      </a:pPr>
                      <a:r>
                        <a:rPr lang="en-US" sz="1800" b="1" u="none" strike="noStrike">
                          <a:solidFill>
                            <a:schemeClr val="lt1"/>
                          </a:solidFill>
                          <a:effectLst/>
                          <a:uFillTx/>
                          <a:latin typeface="Calibri"/>
                        </a:rPr>
                        <a:t>Used for</a:t>
                      </a:r>
                      <a:endParaRPr lang="en-US" sz="1800" b="0" u="none" strike="noStrike">
                        <a:solidFill>
                          <a:srgbClr val="FFFFFF"/>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accent1"/>
                    </a:solidFill>
                  </a:tcPr>
                </a:tc>
              </a:tr>
              <a:tr h="548640">
                <a:tc>
                  <a:txBody>
                    <a:bodyPr anchor="ctr">
                      <a:noAutofit/>
                    </a:bodyPr>
                    <a:p>
                      <a:pPr defTabSz="914400">
                        <a:lnSpc>
                          <a:spcPct val="100000"/>
                        </a:lnSpc>
                        <a:tabLst>
                          <a:tab pos="0" algn="l"/>
                        </a:tabLst>
                      </a:pPr>
                      <a:r>
                        <a:rPr lang="en-US" sz="1800" b="0" u="none" strike="noStrike">
                          <a:solidFill>
                            <a:schemeClr val="dk1"/>
                          </a:solidFill>
                          <a:effectLst/>
                          <a:uFillTx/>
                          <a:latin typeface="Calibri"/>
                        </a:rPr>
                        <a:t>GET /api/search</a:t>
                      </a:r>
                      <a:endParaRPr lang="en-US" sz="18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c>
                  <a:txBody>
                    <a:bodyPr anchor="ctr">
                      <a:noAutofit/>
                    </a:bodyPr>
                    <a:p>
                      <a:pPr defTabSz="914400">
                        <a:lnSpc>
                          <a:spcPct val="100000"/>
                        </a:lnSpc>
                        <a:tabLst>
                          <a:tab pos="0" algn="l"/>
                        </a:tabLst>
                      </a:pPr>
                      <a:r>
                        <a:rPr lang="en-US" sz="1800" b="0" u="none" strike="noStrike">
                          <a:solidFill>
                            <a:schemeClr val="dk1"/>
                          </a:solidFill>
                          <a:effectLst/>
                          <a:uFillTx/>
                          <a:latin typeface="Calibri"/>
                        </a:rPr>
                        <a:t>Blood Finder and map</a:t>
                      </a:r>
                      <a:endParaRPr lang="en-US" sz="18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r>
              <a:tr h="548640">
                <a:tc>
                  <a:txBody>
                    <a:bodyPr anchor="ctr">
                      <a:noAutofit/>
                    </a:bodyPr>
                    <a:p>
                      <a:pPr defTabSz="914400">
                        <a:lnSpc>
                          <a:spcPct val="100000"/>
                        </a:lnSpc>
                        <a:tabLst>
                          <a:tab pos="0" algn="l"/>
                        </a:tabLst>
                      </a:pPr>
                      <a:r>
                        <a:rPr lang="en-US" sz="1800" b="0" u="none" strike="noStrike">
                          <a:solidFill>
                            <a:schemeClr val="dk1"/>
                          </a:solidFill>
                          <a:effectLst/>
                          <a:uFillTx/>
                          <a:latin typeface="Calibri"/>
                        </a:rPr>
                        <a:t>GET /api/v1/emergency</a:t>
                      </a:r>
                      <a:endParaRPr lang="en-US" sz="18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c>
                  <a:txBody>
                    <a:bodyPr anchor="ctr">
                      <a:noAutofit/>
                    </a:bodyPr>
                    <a:p>
                      <a:pPr defTabSz="914400">
                        <a:lnSpc>
                          <a:spcPct val="100000"/>
                        </a:lnSpc>
                        <a:tabLst>
                          <a:tab pos="0" algn="l"/>
                        </a:tabLst>
                      </a:pPr>
                      <a:r>
                        <a:rPr lang="en-US" sz="1800" b="0" u="none" strike="noStrike">
                          <a:solidFill>
                            <a:schemeClr val="dk1"/>
                          </a:solidFill>
                          <a:effectLst/>
                          <a:uFillTx/>
                          <a:latin typeface="Calibri"/>
                        </a:rPr>
                        <a:t>Emergency Mode ranking</a:t>
                      </a:r>
                      <a:endParaRPr lang="en-US" sz="18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r>
              <a:tr h="548640">
                <a:tc>
                  <a:txBody>
                    <a:bodyPr anchor="ctr">
                      <a:noAutofit/>
                    </a:bodyPr>
                    <a:p>
                      <a:pPr defTabSz="914400">
                        <a:lnSpc>
                          <a:spcPct val="100000"/>
                        </a:lnSpc>
                        <a:tabLst>
                          <a:tab pos="0" algn="l"/>
                        </a:tabLst>
                      </a:pPr>
                      <a:r>
                        <a:rPr lang="en-US" sz="1800" b="0" u="none" strike="noStrike">
                          <a:solidFill>
                            <a:schemeClr val="dk1"/>
                          </a:solidFill>
                          <a:effectLst/>
                          <a:uFillTx/>
                          <a:latin typeface="Calibri"/>
                        </a:rPr>
                        <a:t>GET /api/v1/shortages</a:t>
                      </a:r>
                      <a:endParaRPr lang="en-US" sz="18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c>
                  <a:txBody>
                    <a:bodyPr anchor="ctr">
                      <a:noAutofit/>
                    </a:bodyPr>
                    <a:p>
                      <a:pPr defTabSz="914400">
                        <a:lnSpc>
                          <a:spcPct val="100000"/>
                        </a:lnSpc>
                        <a:tabLst>
                          <a:tab pos="0" algn="l"/>
                        </a:tabLst>
                      </a:pPr>
                      <a:r>
                        <a:rPr lang="en-US" sz="1800" b="0" u="none" strike="noStrike">
                          <a:solidFill>
                            <a:schemeClr val="dk1"/>
                          </a:solidFill>
                          <a:effectLst/>
                          <a:uFillTx/>
                          <a:latin typeface="Calibri"/>
                        </a:rPr>
                        <a:t>District shortages</a:t>
                      </a:r>
                      <a:endParaRPr lang="en-US" sz="18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r>
              <a:tr h="548640">
                <a:tc>
                  <a:txBody>
                    <a:bodyPr anchor="ctr">
                      <a:noAutofit/>
                    </a:bodyPr>
                    <a:p>
                      <a:pPr defTabSz="914400">
                        <a:lnSpc>
                          <a:spcPct val="100000"/>
                        </a:lnSpc>
                        <a:tabLst>
                          <a:tab pos="0" algn="l"/>
                        </a:tabLst>
                      </a:pPr>
                      <a:r>
                        <a:rPr lang="en-US" sz="1800" b="0" u="none" strike="noStrike">
                          <a:solidFill>
                            <a:schemeClr val="dk1"/>
                          </a:solidFill>
                          <a:effectLst/>
                          <a:uFillTx/>
                          <a:latin typeface="Calibri"/>
                        </a:rPr>
                        <a:t>GET /api/v1/rare</a:t>
                      </a:r>
                      <a:endParaRPr lang="en-US" sz="18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c>
                  <a:txBody>
                    <a:bodyPr anchor="ctr">
                      <a:noAutofit/>
                    </a:bodyPr>
                    <a:p>
                      <a:pPr defTabSz="914400">
                        <a:lnSpc>
                          <a:spcPct val="100000"/>
                        </a:lnSpc>
                        <a:tabLst>
                          <a:tab pos="0" algn="l"/>
                        </a:tabLst>
                      </a:pPr>
                      <a:r>
                        <a:rPr lang="en-US" sz="1800" b="0" u="none" strike="noStrike">
                          <a:solidFill>
                            <a:schemeClr val="dk1"/>
                          </a:solidFill>
                          <a:effectLst/>
                          <a:uFillTx/>
                          <a:latin typeface="Calibri"/>
                        </a:rPr>
                        <a:t>Rare Blood Radar</a:t>
                      </a:r>
                      <a:endParaRPr lang="en-US" sz="18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r>
              <a:tr h="548640">
                <a:tc>
                  <a:txBody>
                    <a:bodyPr anchor="ctr">
                      <a:noAutofit/>
                    </a:bodyPr>
                    <a:p>
                      <a:pPr defTabSz="914400">
                        <a:lnSpc>
                          <a:spcPct val="100000"/>
                        </a:lnSpc>
                        <a:tabLst>
                          <a:tab pos="0" algn="l"/>
                        </a:tabLst>
                      </a:pPr>
                      <a:r>
                        <a:rPr lang="en-US" sz="1800" b="0" u="none" strike="noStrike">
                          <a:solidFill>
                            <a:schemeClr val="dk1"/>
                          </a:solidFill>
                          <a:effectLst/>
                          <a:uFillTx/>
                          <a:latin typeface="Calibri"/>
                        </a:rPr>
                        <a:t>GET /api/history</a:t>
                      </a:r>
                      <a:endParaRPr lang="en-US" sz="18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c>
                  <a:txBody>
                    <a:bodyPr anchor="ctr">
                      <a:noAutofit/>
                    </a:bodyPr>
                    <a:p>
                      <a:pPr defTabSz="914400">
                        <a:lnSpc>
                          <a:spcPct val="100000"/>
                        </a:lnSpc>
                        <a:tabLst>
                          <a:tab pos="0" algn="l"/>
                        </a:tabLst>
                      </a:pPr>
                      <a:r>
                        <a:rPr lang="en-US" sz="1800" b="0" u="none" strike="noStrike">
                          <a:solidFill>
                            <a:schemeClr val="dk1"/>
                          </a:solidFill>
                          <a:effectLst/>
                          <a:uFillTx/>
                          <a:latin typeface="Calibri"/>
                        </a:rPr>
                        <a:t>Trend chart</a:t>
                      </a:r>
                      <a:endParaRPr lang="en-US" sz="18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r>
              <a:tr h="548640">
                <a:tc>
                  <a:txBody>
                    <a:bodyPr anchor="ctr">
                      <a:noAutofit/>
                    </a:bodyPr>
                    <a:p>
                      <a:pPr defTabSz="914400">
                        <a:lnSpc>
                          <a:spcPct val="100000"/>
                        </a:lnSpc>
                        <a:tabLst>
                          <a:tab pos="0" algn="l"/>
                        </a:tabLst>
                      </a:pPr>
                      <a:r>
                        <a:rPr lang="en-US" sz="1800" b="0" u="none" strike="noStrike">
                          <a:solidFill>
                            <a:schemeClr val="dk1"/>
                          </a:solidFill>
                          <a:effectLst/>
                          <a:uFillTx/>
                          <a:latin typeface="Calibri"/>
                        </a:rPr>
                        <a:t>GET /api/v1/health/dashboard</a:t>
                      </a:r>
                      <a:endParaRPr lang="en-US" sz="18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c>
                  <a:txBody>
                    <a:bodyPr anchor="ctr">
                      <a:noAutofit/>
                    </a:bodyPr>
                    <a:p>
                      <a:pPr defTabSz="914400">
                        <a:lnSpc>
                          <a:spcPct val="100000"/>
                        </a:lnSpc>
                        <a:tabLst>
                          <a:tab pos="0" algn="l"/>
                        </a:tabLst>
                      </a:pPr>
                      <a:r>
                        <a:rPr lang="en-US" sz="1800" b="0" u="none" strike="noStrike">
                          <a:solidFill>
                            <a:schemeClr val="dk1"/>
                          </a:solidFill>
                          <a:effectLst/>
                          <a:uFillTx/>
                          <a:latin typeface="Calibri"/>
                        </a:rPr>
                        <a:t>Data Health panel</a:t>
                      </a:r>
                      <a:endParaRPr lang="en-US" sz="18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r>
              <a:tr h="548640">
                <a:tc>
                  <a:txBody>
                    <a:bodyPr anchor="ctr">
                      <a:noAutofit/>
                    </a:bodyPr>
                    <a:p>
                      <a:pPr defTabSz="914400">
                        <a:lnSpc>
                          <a:spcPct val="100000"/>
                        </a:lnSpc>
                        <a:tabLst>
                          <a:tab pos="0" algn="l"/>
                        </a:tabLst>
                      </a:pPr>
                      <a:r>
                        <a:rPr lang="en-US" sz="1800" b="0" u="none" strike="noStrike">
                          <a:solidFill>
                            <a:schemeClr val="dk1"/>
                          </a:solidFill>
                          <a:effectLst/>
                          <a:uFillTx/>
                          <a:latin typeface="Calibri"/>
                        </a:rPr>
                        <a:t>GET /api/v1/export/*.csv</a:t>
                      </a:r>
                      <a:endParaRPr lang="en-US" sz="18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c>
                  <a:txBody>
                    <a:bodyPr anchor="ctr">
                      <a:noAutofit/>
                    </a:bodyPr>
                    <a:p>
                      <a:pPr defTabSz="914400">
                        <a:lnSpc>
                          <a:spcPct val="100000"/>
                        </a:lnSpc>
                        <a:tabLst>
                          <a:tab pos="0" algn="l"/>
                        </a:tabLst>
                      </a:pPr>
                      <a:r>
                        <a:rPr lang="en-US" sz="1800" b="0" u="none" strike="noStrike">
                          <a:solidFill>
                            <a:schemeClr val="dk1"/>
                          </a:solidFill>
                          <a:effectLst/>
                          <a:uFillTx/>
                          <a:latin typeface="Calibri"/>
                        </a:rPr>
                        <a:t>CSV downloads</a:t>
                      </a:r>
                      <a:endParaRPr lang="en-US" sz="1800" b="0" u="none" strike="noStrike">
                        <a:solidFill>
                          <a:srgbClr val="000000"/>
                        </a:solidFill>
                        <a:effectLst/>
                        <a:uFillTx/>
                        <a:latin typeface="Arial"/>
                      </a:endParaRPr>
                    </a:p>
                  </a:txBody>
                  <a:tcPr anchor="ctr" marL="91440" marR="91440" marT="45720" marB="45720">
                    <a:lnL w="9360">
                      <a:solidFill>
                        <a:srgbClr val="E0E0E0"/>
                      </a:solidFill>
                      <a:prstDash val="solid"/>
                    </a:lnL>
                    <a:lnR w="9360">
                      <a:solidFill>
                        <a:srgbClr val="E0E0E0"/>
                      </a:solidFill>
                      <a:prstDash val="solid"/>
                    </a:lnR>
                    <a:lnT w="9360">
                      <a:solidFill>
                        <a:srgbClr val="E0E0E0"/>
                      </a:solidFill>
                      <a:prstDash val="solid"/>
                    </a:lnT>
                    <a:lnB w="9360">
                      <a:solidFill>
                        <a:srgbClr val="E0E0E0"/>
                      </a:solidFill>
                      <a:prstDash val="solid"/>
                    </a:lnB>
                    <a:solidFill>
                      <a:schemeClr val="lt1"/>
                    </a:solidFill>
                  </a:tcPr>
                </a:tc>
              </a:tr>
            </a:tbl>
          </a:graphicData>
        </a:graphic>
      </p:graphicFrame>
      <p:sp>
        <p:nvSpPr>
          <p:cNvPr id="250" name="PlaceHolder 2"/>
          <p:cNvSpPr>
            <a:spLocks noGrp="1"/>
          </p:cNvSpPr>
          <p:nvPr>
            <p:ph type="sldNum" idx="22"/>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BADEE90E-B463-4DB2-BC9A-23A80D8253DC}"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251" name="PlaceHolder 1"/>
          <p:cNvSpPr>
            <a:spLocks noGrp="1"/>
          </p:cNvSpPr>
          <p:nvPr>
            <p:ph type="title" hasCustomPrompt="1"/>
          </p:nvPr>
        </p:nvSpPr>
        <p:spPr>
          <a:xfrm>
            <a:off x="548640" y="320040"/>
            <a:ext cx="11091240" cy="8683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000" b="1" u="none" strike="noStrike">
                <a:solidFill>
                  <a:schemeClr val="dk1"/>
                </a:solidFill>
                <a:effectLst/>
                <a:uFillTx/>
                <a:latin typeface="Segoe UI Semibold"/>
              </a:rPr>
              <a:t>Backup: Likely viva questions</a:t>
            </a:r>
            <a:endParaRPr lang="en-US" sz="3000" b="0" u="none" strike="noStrike">
              <a:solidFill>
                <a:schemeClr val="dk1"/>
              </a:solidFill>
              <a:effectLst/>
              <a:uFillTx/>
              <a:latin typeface="Calibri"/>
            </a:endParaRPr>
          </a:p>
        </p:txBody>
      </p:sp>
      <p:sp>
        <p:nvSpPr>
          <p:cNvPr id="252" name="qa card 1"/>
          <p:cNvSpPr/>
          <p:nvPr/>
        </p:nvSpPr>
        <p:spPr>
          <a:xfrm>
            <a:off x="548640" y="1371600"/>
            <a:ext cx="5421960" cy="1325520"/>
          </a:xfrm>
          <a:prstGeom prst="roundRect">
            <a:avLst>
              <a:gd name="adj" fmla="val 8276"/>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3" name="Text 2"/>
          <p:cNvSpPr/>
          <p:nvPr/>
        </p:nvSpPr>
        <p:spPr>
          <a:xfrm>
            <a:off x="822960" y="1536120"/>
            <a:ext cx="493740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900" b="1" u="none" strike="noStrike">
                <a:solidFill>
                  <a:schemeClr val="accent1"/>
                </a:solidFill>
                <a:effectLst/>
                <a:uFillTx/>
                <a:latin typeface="Calibri"/>
              </a:rPr>
              <a:t>Why DuckDB, not MySQL?</a:t>
            </a:r>
            <a:endParaRPr lang="en-US" sz="1900" b="0" u="none" strike="noStrike">
              <a:solidFill>
                <a:srgbClr val="000000"/>
              </a:solidFill>
              <a:effectLst/>
              <a:uFillTx/>
              <a:latin typeface="Arial"/>
            </a:endParaRPr>
          </a:p>
        </p:txBody>
      </p:sp>
      <p:sp>
        <p:nvSpPr>
          <p:cNvPr id="254" name="Text 3"/>
          <p:cNvSpPr/>
          <p:nvPr/>
        </p:nvSpPr>
        <p:spPr>
          <a:xfrm>
            <a:off x="822960" y="2011680"/>
            <a:ext cx="493740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700" b="0" u="none" strike="noStrike">
                <a:solidFill>
                  <a:schemeClr val="dk1"/>
                </a:solidFill>
                <a:effectLst/>
                <a:uFillTx/>
                <a:latin typeface="Calibri"/>
              </a:rPr>
              <a:t>Analytics workload, no server, reads Parquet.</a:t>
            </a:r>
            <a:endParaRPr lang="en-US" sz="1700" b="0" u="none" strike="noStrike">
              <a:solidFill>
                <a:srgbClr val="000000"/>
              </a:solidFill>
              <a:effectLst/>
              <a:uFillTx/>
              <a:latin typeface="Arial"/>
            </a:endParaRPr>
          </a:p>
        </p:txBody>
      </p:sp>
      <p:sp>
        <p:nvSpPr>
          <p:cNvPr id="255" name="qa card 2"/>
          <p:cNvSpPr/>
          <p:nvPr/>
        </p:nvSpPr>
        <p:spPr>
          <a:xfrm>
            <a:off x="6217920" y="1371600"/>
            <a:ext cx="5421960" cy="1325520"/>
          </a:xfrm>
          <a:prstGeom prst="roundRect">
            <a:avLst>
              <a:gd name="adj" fmla="val 8276"/>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6" name="Text 5"/>
          <p:cNvSpPr/>
          <p:nvPr/>
        </p:nvSpPr>
        <p:spPr>
          <a:xfrm>
            <a:off x="6492240" y="1536120"/>
            <a:ext cx="493740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900" b="1" u="none" strike="noStrike">
                <a:solidFill>
                  <a:schemeClr val="accent1"/>
                </a:solidFill>
                <a:effectLst/>
                <a:uFillTx/>
                <a:latin typeface="Calibri"/>
              </a:rPr>
              <a:t>Is the data real?</a:t>
            </a:r>
            <a:endParaRPr lang="en-US" sz="1900" b="0" u="none" strike="noStrike">
              <a:solidFill>
                <a:srgbClr val="000000"/>
              </a:solidFill>
              <a:effectLst/>
              <a:uFillTx/>
              <a:latin typeface="Arial"/>
            </a:endParaRPr>
          </a:p>
        </p:txBody>
      </p:sp>
      <p:sp>
        <p:nvSpPr>
          <p:cNvPr id="257" name="Text 6"/>
          <p:cNvSpPr/>
          <p:nvPr/>
        </p:nvSpPr>
        <p:spPr>
          <a:xfrm>
            <a:off x="6492240" y="2011680"/>
            <a:ext cx="493740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700" b="0" u="none" strike="noStrike">
                <a:solidFill>
                  <a:schemeClr val="dk1"/>
                </a:solidFill>
                <a:effectLst/>
                <a:uFillTx/>
                <a:latin typeface="Calibri"/>
              </a:rPr>
              <a:t>Yes, eRaktKosh (MoHFW); no fake data.</a:t>
            </a:r>
            <a:endParaRPr lang="en-US" sz="1700" b="0" u="none" strike="noStrike">
              <a:solidFill>
                <a:srgbClr val="000000"/>
              </a:solidFill>
              <a:effectLst/>
              <a:uFillTx/>
              <a:latin typeface="Arial"/>
            </a:endParaRPr>
          </a:p>
        </p:txBody>
      </p:sp>
      <p:sp>
        <p:nvSpPr>
          <p:cNvPr id="258" name="qa card 3"/>
          <p:cNvSpPr/>
          <p:nvPr/>
        </p:nvSpPr>
        <p:spPr>
          <a:xfrm>
            <a:off x="548640" y="2926080"/>
            <a:ext cx="5421960" cy="1325520"/>
          </a:xfrm>
          <a:prstGeom prst="roundRect">
            <a:avLst>
              <a:gd name="adj" fmla="val 8276"/>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9" name="Text 8"/>
          <p:cNvSpPr/>
          <p:nvPr/>
        </p:nvSpPr>
        <p:spPr>
          <a:xfrm>
            <a:off x="822960" y="3090600"/>
            <a:ext cx="493740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900" b="1" u="none" strike="noStrike">
                <a:solidFill>
                  <a:schemeClr val="accent1"/>
                </a:solidFill>
                <a:effectLst/>
                <a:uFillTx/>
                <a:latin typeface="Calibri"/>
              </a:rPr>
              <a:t>What if eRaktKosh is down?</a:t>
            </a:r>
            <a:endParaRPr lang="en-US" sz="1900" b="0" u="none" strike="noStrike">
              <a:solidFill>
                <a:srgbClr val="000000"/>
              </a:solidFill>
              <a:effectLst/>
              <a:uFillTx/>
              <a:latin typeface="Arial"/>
            </a:endParaRPr>
          </a:p>
        </p:txBody>
      </p:sp>
      <p:sp>
        <p:nvSpPr>
          <p:cNvPr id="260" name="Text 9"/>
          <p:cNvSpPr/>
          <p:nvPr/>
        </p:nvSpPr>
        <p:spPr>
          <a:xfrm>
            <a:off x="822960" y="3566160"/>
            <a:ext cx="493740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700" b="0" u="none" strike="noStrike">
                <a:solidFill>
                  <a:schemeClr val="dk1"/>
                </a:solidFill>
                <a:effectLst/>
                <a:uFillTx/>
                <a:latin typeface="Calibri"/>
              </a:rPr>
              <a:t>Circuit breaker + gate; old data stays live.</a:t>
            </a:r>
            <a:endParaRPr lang="en-US" sz="1700" b="0" u="none" strike="noStrike">
              <a:solidFill>
                <a:srgbClr val="000000"/>
              </a:solidFill>
              <a:effectLst/>
              <a:uFillTx/>
              <a:latin typeface="Arial"/>
            </a:endParaRPr>
          </a:p>
        </p:txBody>
      </p:sp>
      <p:sp>
        <p:nvSpPr>
          <p:cNvPr id="261" name="qa card 4"/>
          <p:cNvSpPr/>
          <p:nvPr/>
        </p:nvSpPr>
        <p:spPr>
          <a:xfrm>
            <a:off x="6217920" y="2926080"/>
            <a:ext cx="5421960" cy="1325520"/>
          </a:xfrm>
          <a:prstGeom prst="roundRect">
            <a:avLst>
              <a:gd name="adj" fmla="val 8276"/>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2" name="Text 11"/>
          <p:cNvSpPr/>
          <p:nvPr/>
        </p:nvSpPr>
        <p:spPr>
          <a:xfrm>
            <a:off x="6492240" y="3090600"/>
            <a:ext cx="493740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900" b="1" u="none" strike="noStrike">
                <a:solidFill>
                  <a:schemeClr val="accent1"/>
                </a:solidFill>
                <a:effectLst/>
                <a:uFillTx/>
                <a:latin typeface="Calibri"/>
              </a:rPr>
              <a:t>How is Emergency rank made?</a:t>
            </a:r>
            <a:endParaRPr lang="en-US" sz="1900" b="0" u="none" strike="noStrike">
              <a:solidFill>
                <a:srgbClr val="000000"/>
              </a:solidFill>
              <a:effectLst/>
              <a:uFillTx/>
              <a:latin typeface="Arial"/>
            </a:endParaRPr>
          </a:p>
        </p:txBody>
      </p:sp>
      <p:sp>
        <p:nvSpPr>
          <p:cNvPr id="263" name="Text 12"/>
          <p:cNvSpPr/>
          <p:nvPr/>
        </p:nvSpPr>
        <p:spPr>
          <a:xfrm>
            <a:off x="6492240" y="3566160"/>
            <a:ext cx="493740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700" b="0" u="none" strike="noStrike">
                <a:solidFill>
                  <a:schemeClr val="dk1"/>
                </a:solidFill>
                <a:effectLst/>
                <a:uFillTx/>
                <a:latin typeface="Calibri"/>
              </a:rPr>
              <a:t>0.35 fresh + 0.30 trust + 0.25 units + 0.10 distance.</a:t>
            </a:r>
            <a:endParaRPr lang="en-US" sz="1700" b="0" u="none" strike="noStrike">
              <a:solidFill>
                <a:srgbClr val="000000"/>
              </a:solidFill>
              <a:effectLst/>
              <a:uFillTx/>
              <a:latin typeface="Arial"/>
            </a:endParaRPr>
          </a:p>
        </p:txBody>
      </p:sp>
      <p:sp>
        <p:nvSpPr>
          <p:cNvPr id="264" name="qa card 5"/>
          <p:cNvSpPr/>
          <p:nvPr/>
        </p:nvSpPr>
        <p:spPr>
          <a:xfrm>
            <a:off x="548640" y="4480560"/>
            <a:ext cx="5421960" cy="1325520"/>
          </a:xfrm>
          <a:prstGeom prst="roundRect">
            <a:avLst>
              <a:gd name="adj" fmla="val 8276"/>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5" name="Text 14"/>
          <p:cNvSpPr/>
          <p:nvPr/>
        </p:nvSpPr>
        <p:spPr>
          <a:xfrm>
            <a:off x="822960" y="4645080"/>
            <a:ext cx="493740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900" b="1" u="none" strike="noStrike">
                <a:solidFill>
                  <a:schemeClr val="accent1"/>
                </a:solidFill>
                <a:effectLst/>
                <a:uFillTx/>
                <a:latin typeface="Calibri"/>
              </a:rPr>
              <a:t>Why is plasma different?</a:t>
            </a:r>
            <a:endParaRPr lang="en-US" sz="1900" b="0" u="none" strike="noStrike">
              <a:solidFill>
                <a:srgbClr val="000000"/>
              </a:solidFill>
              <a:effectLst/>
              <a:uFillTx/>
              <a:latin typeface="Arial"/>
            </a:endParaRPr>
          </a:p>
        </p:txBody>
      </p:sp>
      <p:sp>
        <p:nvSpPr>
          <p:cNvPr id="266" name="Text 15"/>
          <p:cNvSpPr/>
          <p:nvPr/>
        </p:nvSpPr>
        <p:spPr>
          <a:xfrm>
            <a:off x="822960" y="5120640"/>
            <a:ext cx="493740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700" b="0" u="none" strike="noStrike">
                <a:solidFill>
                  <a:schemeClr val="dk1"/>
                </a:solidFill>
                <a:effectLst/>
                <a:uFillTx/>
                <a:latin typeface="Calibri"/>
              </a:rPr>
              <a:t>Reverse rule: AB is the universal plasma donor.</a:t>
            </a:r>
            <a:endParaRPr lang="en-US" sz="1700" b="0" u="none" strike="noStrike">
              <a:solidFill>
                <a:srgbClr val="000000"/>
              </a:solidFill>
              <a:effectLst/>
              <a:uFillTx/>
              <a:latin typeface="Arial"/>
            </a:endParaRPr>
          </a:p>
        </p:txBody>
      </p:sp>
      <p:sp>
        <p:nvSpPr>
          <p:cNvPr id="267" name="qa card 6"/>
          <p:cNvSpPr/>
          <p:nvPr/>
        </p:nvSpPr>
        <p:spPr>
          <a:xfrm>
            <a:off x="6217920" y="4480560"/>
            <a:ext cx="5421960" cy="1325520"/>
          </a:xfrm>
          <a:prstGeom prst="roundRect">
            <a:avLst>
              <a:gd name="adj" fmla="val 8276"/>
            </a:avLst>
          </a:prstGeom>
          <a:solidFill>
            <a:schemeClr val="bg1"/>
          </a:solidFill>
          <a:ln w="12700">
            <a:solidFill>
              <a:srgbClr val="EEEEEE"/>
            </a:solidFill>
            <a:round/>
          </a:ln>
          <a:effectLst>
            <a:outerShdw algn="bl" blurRad="763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8" name="Text 17"/>
          <p:cNvSpPr/>
          <p:nvPr/>
        </p:nvSpPr>
        <p:spPr>
          <a:xfrm>
            <a:off x="6492240" y="4645080"/>
            <a:ext cx="493740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900" b="1" u="none" strike="noStrike">
                <a:solidFill>
                  <a:schemeClr val="accent1"/>
                </a:solidFill>
                <a:effectLst/>
                <a:uFillTx/>
                <a:latin typeface="Calibri"/>
              </a:rPr>
              <a:t>How do you stop SQL injection?</a:t>
            </a:r>
            <a:endParaRPr lang="en-US" sz="1900" b="0" u="none" strike="noStrike">
              <a:solidFill>
                <a:srgbClr val="000000"/>
              </a:solidFill>
              <a:effectLst/>
              <a:uFillTx/>
              <a:latin typeface="Arial"/>
            </a:endParaRPr>
          </a:p>
        </p:txBody>
      </p:sp>
      <p:sp>
        <p:nvSpPr>
          <p:cNvPr id="269" name="Text 18"/>
          <p:cNvSpPr/>
          <p:nvPr/>
        </p:nvSpPr>
        <p:spPr>
          <a:xfrm>
            <a:off x="6492240" y="5120640"/>
            <a:ext cx="493740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700" b="0" u="none" strike="noStrike">
                <a:solidFill>
                  <a:schemeClr val="dk1"/>
                </a:solidFill>
                <a:effectLst/>
                <a:uFillTx/>
                <a:latin typeface="Calibri"/>
              </a:rPr>
              <a:t>All values passed as ? parameters.</a:t>
            </a:r>
            <a:endParaRPr lang="en-US" sz="1700" b="0" u="none" strike="noStrike">
              <a:solidFill>
                <a:srgbClr val="000000"/>
              </a:solidFill>
              <a:effectLst/>
              <a:uFillTx/>
              <a:latin typeface="Arial"/>
            </a:endParaRPr>
          </a:p>
        </p:txBody>
      </p:sp>
      <p:sp>
        <p:nvSpPr>
          <p:cNvPr id="270" name="PlaceHolder 2"/>
          <p:cNvSpPr>
            <a:spLocks noGrp="1"/>
          </p:cNvSpPr>
          <p:nvPr>
            <p:ph type="sldNum" idx="23"/>
          </p:nvPr>
        </p:nvSpPr>
        <p:spPr>
          <a:xfrm>
            <a:off x="11064240" y="6355080"/>
            <a:ext cx="575640" cy="31968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chemeClr val="accent3"/>
                </a:solidFill>
                <a:effectLst/>
                <a:uFillTx/>
                <a:latin typeface="Calibri"/>
              </a:defRPr>
            </a:lvl1pPr>
          </a:lstStyle>
          <a:p>
            <a:pPr indent="0" algn="r" defTabSz="914400">
              <a:lnSpc>
                <a:spcPct val="100000"/>
              </a:lnSpc>
              <a:buNone/>
            </a:pPr>
            <a:fld id="{646E0B46-50F7-4B5B-9C87-2EDEA378BEF1}" type="slidenum">
              <a:rPr lang="en-US" sz="1200" b="0" u="none" strike="noStrike">
                <a:solidFill>
                  <a:schemeClr val="accent3"/>
                </a:solidFill>
                <a:effectLst/>
                <a:uFillTx/>
                <a:latin typeface="Calibri"/>
              </a:rPr>
              <a:t>&lt;number&gt;</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Raktsetu">
  <a:themeElements>
    <a:clrScheme name="Raktsetu">
      <a:dk1>
        <a:srgbClr val="212121"/>
      </a:dk1>
      <a:lt1>
        <a:srgbClr val="FFFFFF"/>
      </a:lt1>
      <a:dk2>
        <a:srgbClr val="5F0F0F"/>
      </a:dk2>
      <a:lt2>
        <a:srgbClr val="FAFAFA"/>
      </a:lt2>
      <a:accent1>
        <a:srgbClr val="B71C1C"/>
      </a:accent1>
      <a:accent2>
        <a:srgbClr val="FDECEA"/>
      </a:accent2>
      <a:accent3>
        <a:srgbClr val="546E7A"/>
      </a:accent3>
      <a:accent4>
        <a:srgbClr val="EEEEEE"/>
      </a:accent4>
      <a:accent5>
        <a:srgbClr val="2E7D32"/>
      </a:accent5>
      <a:accent6>
        <a:srgbClr val="F9A825"/>
      </a:accent6>
      <a:hlink>
        <a:srgbClr val="B71C1C"/>
      </a:hlink>
      <a:folHlink>
        <a:srgbClr val="7F1010"/>
      </a:folHlink>
    </a:clrScheme>
    <a:fontScheme name="Raktsetu">
      <a:majorFont>
        <a:latin typeface="Segoe UI Semibold"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LibreOffice/26.8.1.1$Linux_X86_64 LibreOffice_project/680$Build-1</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2026-10-21T19:40:17Z</dcterms:created>
  <dc:creator>Radhey Gajera, Shruti Gajipara</dc:creator>
  <dc:description/>
  <dc:language>en-US</dc:language>
  <cp:lastModifiedBy/>
  <dcterms:modified xsi:type="dcterms:W3CDTF">2026-10-24T08:16:20Z</dcterms:modified>
  <cp:revision>3</cp:revision>
  <dc:subject>PptxGenJS Presentation</dc:subject>
  <dc:title>Raktsetu: Real-Time Blood Availability Finder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18</vt:i4>
  </property>
  <property fmtid="{D5CDD505-2E9C-101B-9397-08002B2CF9AE}" pid="3" name="PresentationFormat">
    <vt:lpwstr>On-screen Show (16:9)</vt:lpwstr>
  </property>
  <property fmtid="{D5CDD505-2E9C-101B-9397-08002B2CF9AE}" pid="4" name="Slides">
    <vt:i4>18</vt:i4>
  </property>
</Properties>
</file>